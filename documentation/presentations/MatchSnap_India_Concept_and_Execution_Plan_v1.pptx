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iacode.nic.in/handle/123456789/22037?view_type=browse" TargetMode="External"/><Relationship Id="rId3" Type="http://schemas.openxmlformats.org/officeDocument/2006/relationships/hyperlink" Target="https://www.meity.gov.in/documents/act-and-policies/digital-personal-data-protection-rules-2025-gDOxUjMtQWa?hl=en-US" TargetMode="External"/><Relationship Id="rId4" Type="http://schemas.openxmlformats.org/officeDocument/2006/relationships/hyperlink" Target="https://www.wcd.gov.in/child/mission_vatsalya" TargetMode="External"/><Relationship Id="rId5" Type="http://schemas.openxmlformats.org/officeDocument/2006/relationships/hyperlink" Target="https://www.wcd.gov.in/offerings/mission-vatsalya-child-helpline-1098" TargetMode="External"/><Relationship Id="rId6" Type="http://schemas.openxmlformats.org/officeDocument/2006/relationships/hyperlink" Target="https://trackthemissingchild.gov.in/trackchild/" TargetMode="External"/><Relationship Id="rId7" Type="http://schemas.openxmlformats.org/officeDocument/2006/relationships/hyperlink" Target="https://seedfund.startupindia.gov.in/" TargetMode="External"/><Relationship Id="rId8" Type="http://schemas.openxmlformats.org/officeDocument/2006/relationships/hyperlink" Target="https://www.startupindia.gov.in/content/sih/en/startupgov/startup_recognition_page.html" TargetMode="External"/><Relationship Id="rId9" Type="http://schemas.openxmlformats.org/officeDocument/2006/relationships/hyperlink" Target="https://indiaai.gov.in/hub/indiaai-startup-financing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0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0" y="0"/>
            <a:ext cx="3749039" cy="3749039"/>
          </a:xfrm>
          <a:prstGeom prst="roundRect">
            <a:avLst/>
          </a:prstGeom>
          <a:solidFill>
            <a:srgbClr val="654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281160" y="2971800"/>
            <a:ext cx="2788920" cy="3749039"/>
          </a:xfrm>
          <a:prstGeom prst="roundRect">
            <a:avLst/>
          </a:prstGeom>
          <a:solidFill>
            <a:srgbClr val="9A5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13648" y="978408"/>
            <a:ext cx="1874519" cy="1874519"/>
          </a:xfrm>
          <a:prstGeom prst="roundRect">
            <a:avLst/>
          </a:prstGeom>
          <a:solidFill>
            <a:srgbClr val="BD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D9D0FF"/>
                </a:solidFill>
                <a:latin typeface="Aptos"/>
              </a:rPr>
              <a:t>MATCHSNAP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70432"/>
            <a:ext cx="1920240" cy="310896"/>
          </a:xfrm>
          <a:prstGeom prst="roundRect">
            <a:avLst/>
          </a:prstGeom>
          <a:solidFill>
            <a:srgbClr val="4635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197864"/>
            <a:ext cx="1810512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ptos"/>
              </a:rPr>
              <a:t>INDIA-FIRST • VERSION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6629400" cy="1508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Aptos Display"/>
              </a:rPr>
              <a:t>A safer path from
missing to found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657600"/>
            <a:ext cx="59436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D9D0FF"/>
                </a:solidFill>
                <a:latin typeface="Aptos"/>
              </a:rPr>
              <a:t>Concept, product direction and execution plan for a partner-led India pilot.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13232" y="4681728"/>
            <a:ext cx="5550408" cy="0"/>
          </a:xfrm>
          <a:prstGeom prst="line">
            <a:avLst/>
          </a:prstGeom>
          <a:ln w="12700">
            <a:solidFill>
              <a:srgbClr val="756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13232" y="4892040"/>
            <a:ext cx="60807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ptos"/>
              </a:rPr>
              <a:t>Remote face matching  •  Human review  •  Protected connection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5961888"/>
            <a:ext cx="6217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EB4E1"/>
                </a:solidFill>
                <a:latin typeface="Aptos"/>
              </a:rPr>
              <a:t>Planning document — not a production-readiness or legal-compliance claim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547104"/>
            <a:ext cx="5029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D7CEF9"/>
                </a:solidFill>
                <a:latin typeface="Aptos"/>
              </a:rPr>
              <a:t>MatchSnap India  •  Concept &amp; execution plan  •  Version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91088" y="6510528"/>
            <a:ext cx="5303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D7CEF9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5212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547ED"/>
                </a:solidFill>
                <a:latin typeface="Aptos"/>
              </a:rPr>
              <a:t>THE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789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7142F"/>
                </a:solidFill>
                <a:latin typeface="Aptos Display"/>
              </a:rPr>
              <a:t>Turn two disconnected photos into one reviewed lead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106070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F6A82"/>
                </a:solidFill>
                <a:latin typeface="Aptos"/>
              </a:rPr>
              <a:t>MatchSnap searches a shared missing/found repository and gives authorized people a candidate to review.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38528"/>
            <a:ext cx="3127248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938528"/>
            <a:ext cx="73152" cy="2240280"/>
          </a:xfrm>
          <a:prstGeom prst="roundRect">
            <a:avLst/>
          </a:prstGeom>
          <a:solidFill>
            <a:srgbClr val="654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167128"/>
            <a:ext cx="267004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547ED"/>
                </a:solidFill>
                <a:latin typeface="Aptos"/>
              </a:rPr>
              <a:t>MISSING REPOSITORY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505456"/>
            <a:ext cx="267004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142F"/>
                </a:solidFill>
                <a:latin typeface="Aptos"/>
              </a:rPr>
              <a:t>Someone is being sought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999232"/>
            <a:ext cx="2670048" cy="10149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F6A82"/>
                </a:solidFill>
                <a:latin typeface="Aptos"/>
              </a:rPr>
              <a:t>A family or authorized partner submits a verified case and suitable photograph.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03336" y="1938528"/>
            <a:ext cx="3127248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03336" y="1938528"/>
            <a:ext cx="73152" cy="2240280"/>
          </a:xfrm>
          <a:prstGeom prst="roundRect">
            <a:avLst/>
          </a:prstGeom>
          <a:solidFill>
            <a:srgbClr val="28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2167128"/>
            <a:ext cx="267004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8B67D"/>
                </a:solidFill>
                <a:latin typeface="Aptos"/>
              </a:rPr>
              <a:t>FOUND REPOSITORY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505456"/>
            <a:ext cx="267004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142F"/>
                </a:solidFill>
                <a:latin typeface="Aptos"/>
              </a:rPr>
              <a:t>Someone has been found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2999232"/>
            <a:ext cx="2670048" cy="10149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F6A82"/>
                </a:solidFill>
                <a:latin typeface="Aptos"/>
              </a:rPr>
              <a:t>A trained finder or partner submits a sighting or found-person record.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785615" y="3054096"/>
            <a:ext cx="850393" cy="0"/>
          </a:xfrm>
          <a:prstGeom prst="line">
            <a:avLst/>
          </a:prstGeom>
          <a:ln w="38100">
            <a:solidFill>
              <a:srgbClr val="6547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552944" y="3054096"/>
            <a:ext cx="850392" cy="0"/>
          </a:xfrm>
          <a:prstGeom prst="line">
            <a:avLst/>
          </a:prstGeom>
          <a:ln w="38100">
            <a:solidFill>
              <a:srgbClr val="28B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636008" y="2176272"/>
            <a:ext cx="2916936" cy="1755648"/>
          </a:xfrm>
          <a:prstGeom prst="roundRect">
            <a:avLst/>
          </a:prstGeom>
          <a:solidFill>
            <a:srgbClr val="2D2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10912" y="2514600"/>
            <a:ext cx="2167128" cy="8412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Aptos"/>
              </a:rPr>
              <a:t>REMOTE
MATCHING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9704" y="4242816"/>
            <a:ext cx="3200400" cy="310896"/>
          </a:xfrm>
          <a:prstGeom prst="roundRect">
            <a:avLst/>
          </a:prstGeom>
          <a:solidFill>
            <a:srgbClr val="FFF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4270248"/>
            <a:ext cx="3090672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0A34A"/>
                </a:solidFill>
                <a:latin typeface="Aptos"/>
              </a:rPr>
              <a:t>CANDIDATE, NOT IDENTITY PROOF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873752"/>
            <a:ext cx="10872216" cy="960120"/>
          </a:xfrm>
          <a:prstGeom prst="roundRect">
            <a:avLst/>
          </a:prstGeom>
          <a:solidFill>
            <a:srgbClr val="EE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184648"/>
            <a:ext cx="1024128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6547ED"/>
                </a:solidFill>
                <a:latin typeface="Aptos"/>
              </a:rPr>
              <a:t>Outcome: </a:t>
            </a:r>
            <a:r>
              <a:rPr sz="1700" b="0">
                <a:solidFill>
                  <a:srgbClr val="17142F"/>
                </a:solidFill>
                <a:latin typeface="Aptos"/>
              </a:rPr>
              <a:t>an authorized reviewer checks the candidate before any notification, handoff or connection.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547104"/>
            <a:ext cx="5029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49E"/>
                </a:solidFill>
                <a:latin typeface="Aptos"/>
              </a:rPr>
              <a:t>MatchSnap India  •  Concept &amp; execution plan  •  Version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91088" y="6510528"/>
            <a:ext cx="5303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A849E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5212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547ED"/>
                </a:solidFill>
                <a:latin typeface="Aptos"/>
              </a:rPr>
              <a:t>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789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7142F"/>
                </a:solidFill>
                <a:latin typeface="Aptos Display"/>
              </a:rPr>
              <a:t>The gap is not another public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106070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F6A82"/>
                </a:solidFill>
                <a:latin typeface="Aptos"/>
              </a:rPr>
              <a:t>The opportunity is a secure matching layer that fits authorized workflows and keeps people in control.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47672"/>
            <a:ext cx="3328416" cy="2779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947672"/>
            <a:ext cx="73152" cy="2779776"/>
          </a:xfrm>
          <a:prstGeom prst="roundRect">
            <a:avLst/>
          </a:prstGeom>
          <a:solidFill>
            <a:srgbClr val="654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176272"/>
            <a:ext cx="287121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547ED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514600"/>
            <a:ext cx="2871216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142F"/>
                </a:solidFill>
                <a:latin typeface="Aptos"/>
              </a:rPr>
              <a:t>Time separates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008376"/>
            <a:ext cx="2871216" cy="1554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F6A82"/>
                </a:solidFill>
                <a:latin typeface="Aptos"/>
              </a:rPr>
              <a:t>A found-person image may arrive hours, days or months after the original missing report.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5" y="1947672"/>
            <a:ext cx="3328416" cy="2779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34255" y="1947672"/>
            <a:ext cx="73152" cy="2779776"/>
          </a:xfrm>
          <a:prstGeom prst="roundRect">
            <a:avLst/>
          </a:prstGeom>
          <a:solidFill>
            <a:srgbClr val="427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1999" y="2176272"/>
            <a:ext cx="287121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275E8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2514600"/>
            <a:ext cx="2871216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142F"/>
                </a:solidFill>
                <a:latin typeface="Aptos"/>
              </a:rPr>
              <a:t>Photos are compared manually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3008376"/>
            <a:ext cx="2871216" cy="1554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F6A82"/>
                </a:solidFill>
                <a:latin typeface="Aptos"/>
              </a:rPr>
              <a:t>People cannot reliably review growing photo collections across locations and time periods.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947672"/>
            <a:ext cx="3328416" cy="2779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10144" y="1947672"/>
            <a:ext cx="73152" cy="2779776"/>
          </a:xfrm>
          <a:prstGeom prst="roundRect">
            <a:avLst/>
          </a:prstGeom>
          <a:solidFill>
            <a:srgbClr val="28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2176272"/>
            <a:ext cx="287121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8B67D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514600"/>
            <a:ext cx="2871216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142F"/>
                </a:solidFill>
                <a:latin typeface="Aptos"/>
              </a:rPr>
              <a:t>A lead needs safe handling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3008376"/>
            <a:ext cx="2871216" cy="1554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F6A82"/>
                </a:solidFill>
                <a:latin typeface="Aptos"/>
              </a:rPr>
              <a:t>A similarity score is useful only when verification, safeguarding and an official handoff follow.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074920"/>
            <a:ext cx="10872216" cy="749808"/>
          </a:xfrm>
          <a:prstGeom prst="roundRect">
            <a:avLst/>
          </a:prstGeom>
          <a:solidFill>
            <a:srgbClr val="2D2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285232"/>
            <a:ext cx="102412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ptos"/>
              </a:rPr>
              <a:t>Existing police and child-protection systems remain the backbone; MatchSnap should complement them.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547104"/>
            <a:ext cx="5029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49E"/>
                </a:solidFill>
                <a:latin typeface="Aptos"/>
              </a:rPr>
              <a:t>MatchSnap India  •  Concept &amp; execution plan  •  Version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91088" y="6510528"/>
            <a:ext cx="5303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A849E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5212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547ED"/>
                </a:solidFill>
                <a:latin typeface="Aptos"/>
              </a:rPr>
              <a:t>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789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7142F"/>
                </a:solidFill>
                <a:latin typeface="Aptos Display"/>
              </a:rPr>
              <a:t>A simple user flow with a controlled decision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106070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F6A82"/>
                </a:solidFill>
                <a:latin typeface="Aptos"/>
              </a:rPr>
              <a:t>The mobile experience stays simple; sensitive decisions move to authorized reviewers.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42832" y="1572768"/>
            <a:ext cx="1975104" cy="4251960"/>
          </a:xfrm>
          <a:prstGeom prst="roundRect">
            <a:avLst/>
          </a:prstGeom>
          <a:solidFill>
            <a:srgbClr val="171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tchsnap-upload.png"/>
          <p:cNvPicPr>
            <a:picLocks noChangeAspect="1"/>
          </p:cNvPicPr>
          <p:nvPr/>
        </p:nvPicPr>
        <p:blipFill>
          <a:blip r:embed="rId2"/>
          <a:srcRect l="12" r="12"/>
          <a:stretch>
            <a:fillRect/>
          </a:stretch>
        </p:blipFill>
        <p:spPr>
          <a:xfrm>
            <a:off x="9006840" y="1645920"/>
            <a:ext cx="1847088" cy="410565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" y="1783080"/>
            <a:ext cx="493776" cy="493776"/>
          </a:xfrm>
          <a:prstGeom prst="roundRect">
            <a:avLst/>
          </a:prstGeom>
          <a:solidFill>
            <a:srgbClr val="654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865376"/>
            <a:ext cx="42062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1773936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142F"/>
                </a:solidFill>
                <a:latin typeface="Aptos"/>
              </a:rPr>
              <a:t>Choose intent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2139696"/>
            <a:ext cx="2907792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F6A82"/>
                </a:solidFill>
                <a:latin typeface="Aptos"/>
              </a:rPr>
              <a:t>Looking for someone or found someone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05256" y="2313432"/>
            <a:ext cx="0" cy="685800"/>
          </a:xfrm>
          <a:prstGeom prst="line">
            <a:avLst/>
          </a:prstGeom>
          <a:ln w="1905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44568" y="1783080"/>
            <a:ext cx="493776" cy="493776"/>
          </a:xfrm>
          <a:prstGeom prst="roundRect">
            <a:avLst/>
          </a:prstGeom>
          <a:solidFill>
            <a:srgbClr val="654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1144" y="1865376"/>
            <a:ext cx="42062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1773936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142F"/>
                </a:solidFill>
                <a:latin typeface="Aptos"/>
              </a:rPr>
              <a:t>Submit photo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2139696"/>
            <a:ext cx="2907792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F6A82"/>
                </a:solidFill>
                <a:latin typeface="Aptos"/>
              </a:rPr>
              <a:t>Quality and consent checks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791456" y="2313432"/>
            <a:ext cx="0" cy="685800"/>
          </a:xfrm>
          <a:prstGeom prst="line">
            <a:avLst/>
          </a:prstGeom>
          <a:ln w="1905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58368" y="3136391"/>
            <a:ext cx="493776" cy="493776"/>
          </a:xfrm>
          <a:prstGeom prst="roundRect">
            <a:avLst/>
          </a:prstGeom>
          <a:solidFill>
            <a:srgbClr val="654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3218687"/>
            <a:ext cx="42062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127248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142F"/>
                </a:solidFill>
                <a:latin typeface="Aptos"/>
              </a:rPr>
              <a:t>Search remotely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4168" y="3493008"/>
            <a:ext cx="2907792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F6A82"/>
                </a:solidFill>
                <a:latin typeface="Aptos"/>
              </a:rPr>
              <a:t>Only the opposite repository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05256" y="3666744"/>
            <a:ext cx="0" cy="685800"/>
          </a:xfrm>
          <a:prstGeom prst="line">
            <a:avLst/>
          </a:prstGeom>
          <a:ln w="1905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544568" y="3136391"/>
            <a:ext cx="493776" cy="493776"/>
          </a:xfrm>
          <a:prstGeom prst="roundRect">
            <a:avLst/>
          </a:prstGeom>
          <a:solidFill>
            <a:srgbClr val="654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81144" y="3218687"/>
            <a:ext cx="42062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3127248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142F"/>
                </a:solidFill>
                <a:latin typeface="Aptos"/>
              </a:rPr>
              <a:t>Persist candidates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493008"/>
            <a:ext cx="2907792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F6A82"/>
                </a:solidFill>
                <a:latin typeface="Aptos"/>
              </a:rPr>
              <a:t>Immediate plus scheduled reconciliation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791456" y="3666744"/>
            <a:ext cx="0" cy="685800"/>
          </a:xfrm>
          <a:prstGeom prst="line">
            <a:avLst/>
          </a:prstGeom>
          <a:ln w="1905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8368" y="4489704"/>
            <a:ext cx="493776" cy="493776"/>
          </a:xfrm>
          <a:prstGeom prst="roundRect">
            <a:avLst/>
          </a:prstGeom>
          <a:solidFill>
            <a:srgbClr val="28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4572000"/>
            <a:ext cx="42062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44168" y="448056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142F"/>
                </a:solidFill>
                <a:latin typeface="Aptos"/>
              </a:rPr>
              <a:t>Human 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4168" y="4846320"/>
            <a:ext cx="2907792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F6A82"/>
                </a:solidFill>
                <a:latin typeface="Aptos"/>
              </a:rPr>
              <a:t>Partner verifies the lead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44568" y="4489704"/>
            <a:ext cx="493776" cy="493776"/>
          </a:xfrm>
          <a:prstGeom prst="roundRect">
            <a:avLst/>
          </a:prstGeom>
          <a:solidFill>
            <a:srgbClr val="28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81144" y="4572000"/>
            <a:ext cx="42062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30368" y="448056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142F"/>
                </a:solidFill>
                <a:latin typeface="Aptos"/>
              </a:rPr>
              <a:t>Protected handoff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30368" y="4846320"/>
            <a:ext cx="2907792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F6A82"/>
                </a:solidFill>
                <a:latin typeface="Aptos"/>
              </a:rPr>
              <a:t>No automatic contact disclosure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42248" y="5916168"/>
            <a:ext cx="2194560" cy="310896"/>
          </a:xfrm>
          <a:prstGeom prst="roundRect">
            <a:avLst/>
          </a:prstGeom>
          <a:solidFill>
            <a:srgbClr val="EE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97112" y="5943600"/>
            <a:ext cx="2084831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6547ED"/>
                </a:solidFill>
                <a:latin typeface="Aptos"/>
              </a:rPr>
              <a:t>CURRENT PROTOTYPE UI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547104"/>
            <a:ext cx="5029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49E"/>
                </a:solidFill>
                <a:latin typeface="Aptos"/>
              </a:rPr>
              <a:t>MatchSnap India  •  Concept &amp; execution plan  •  Version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91088" y="6510528"/>
            <a:ext cx="5303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A849E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5212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547ED"/>
                </a:solidFill>
                <a:latin typeface="Aptos"/>
              </a:rPr>
              <a:t>CURRENT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789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7142F"/>
                </a:solidFill>
                <a:latin typeface="Aptos Display"/>
              </a:rPr>
              <a:t>The remote matching proof of concept already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106070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F6A82"/>
                </a:solidFill>
                <a:latin typeface="Aptos"/>
              </a:rPr>
              <a:t>The prototype demonstrates the core technical loop; it does not yet provide production safeguards.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0116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084832"/>
            <a:ext cx="168249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7142F"/>
                </a:solidFill>
                <a:latin typeface="Aptos"/>
              </a:rPr>
              <a:t>Flutter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23160"/>
            <a:ext cx="168249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F6A82"/>
                </a:solidFill>
                <a:latin typeface="Aptos"/>
              </a:rPr>
              <a:t>Android + 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82112" y="1920240"/>
            <a:ext cx="2011680" cy="914400"/>
          </a:xfrm>
          <a:prstGeom prst="roundRect">
            <a:avLst/>
          </a:prstGeom>
          <a:solidFill>
            <a:srgbClr val="2D2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46704" y="2084832"/>
            <a:ext cx="168249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ptos"/>
              </a:rPr>
              <a:t>FastAPI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46704" y="2423160"/>
            <a:ext cx="168249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D8D0F5"/>
                </a:solidFill>
                <a:latin typeface="Aptos"/>
              </a:rPr>
              <a:t>Remote recognition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32704" y="1737360"/>
            <a:ext cx="21488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97296" y="1901952"/>
            <a:ext cx="181965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7142F"/>
                </a:solidFill>
                <a:latin typeface="Aptos"/>
              </a:rPr>
              <a:t>InsightFace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97296" y="2240280"/>
            <a:ext cx="181965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F6A82"/>
                </a:solidFill>
                <a:latin typeface="Aptos"/>
              </a:rPr>
              <a:t>Detect + embed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32704" y="2697480"/>
            <a:ext cx="21488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97296" y="2862072"/>
            <a:ext cx="181965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7142F"/>
                </a:solidFill>
                <a:latin typeface="Aptos"/>
              </a:rPr>
              <a:t>PostgreSQL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97296" y="3200400"/>
            <a:ext cx="181965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F6A82"/>
                </a:solidFill>
                <a:latin typeface="Aptos"/>
              </a:rPr>
              <a:t>pgvector search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0456" y="2697480"/>
            <a:ext cx="21488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2862072"/>
            <a:ext cx="181965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7142F"/>
                </a:solidFill>
                <a:latin typeface="Aptos"/>
              </a:rPr>
              <a:t>MinIO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3200400"/>
            <a:ext cx="181965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F6A82"/>
                </a:solidFill>
                <a:latin typeface="Aptos"/>
              </a:rPr>
              <a:t>Private photo store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743200" y="2377440"/>
            <a:ext cx="438912" cy="0"/>
          </a:xfrm>
          <a:prstGeom prst="line">
            <a:avLst/>
          </a:prstGeom>
          <a:ln w="31750">
            <a:solidFill>
              <a:srgbClr val="6547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193792" y="2194560"/>
            <a:ext cx="438912" cy="182880"/>
          </a:xfrm>
          <a:prstGeom prst="line">
            <a:avLst/>
          </a:prstGeom>
          <a:ln w="31750">
            <a:solidFill>
              <a:srgbClr val="6547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193792" y="2377440"/>
            <a:ext cx="438912" cy="777240"/>
          </a:xfrm>
          <a:prstGeom prst="line">
            <a:avLst/>
          </a:prstGeom>
          <a:ln w="31750">
            <a:solidFill>
              <a:srgbClr val="6547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781544" y="3154680"/>
            <a:ext cx="438912" cy="0"/>
          </a:xfrm>
          <a:prstGeom prst="line">
            <a:avLst/>
          </a:prstGeom>
          <a:ln w="31750">
            <a:solidFill>
              <a:srgbClr val="6547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1520" y="4389120"/>
            <a:ext cx="24231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617720"/>
            <a:ext cx="205740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6547ED"/>
                </a:solidFill>
                <a:latin typeface="Aptos"/>
              </a:rPr>
              <a:t>Immediate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992624"/>
            <a:ext cx="20574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F6A82"/>
                </a:solidFill>
                <a:latin typeface="Aptos"/>
              </a:rPr>
              <a:t>Matching on upload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0" y="4389120"/>
            <a:ext cx="24231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0" y="4617720"/>
            <a:ext cx="205740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6547ED"/>
                </a:solidFill>
                <a:latin typeface="Aptos"/>
              </a:rPr>
              <a:t>Every 15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992624"/>
            <a:ext cx="20574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F6A82"/>
                </a:solidFill>
                <a:latin typeface="Aptos"/>
              </a:rPr>
              <a:t>Restart-safe reconciliation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389120"/>
            <a:ext cx="24231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617720"/>
            <a:ext cx="205740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6547ED"/>
                </a:solidFill>
                <a:latin typeface="Aptos"/>
              </a:rPr>
              <a:t>Opposite side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992624"/>
            <a:ext cx="20574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F6A82"/>
                </a:solidFill>
                <a:latin typeface="Aptos"/>
              </a:rPr>
              <a:t>Missing searches found, and vice versa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1120" y="4389120"/>
            <a:ext cx="24231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0" y="4617720"/>
            <a:ext cx="205740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6547ED"/>
                </a:solidFill>
                <a:latin typeface="Aptos"/>
              </a:rPr>
              <a:t>Persisted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4992624"/>
            <a:ext cx="20574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F6A82"/>
                </a:solidFill>
                <a:latin typeface="Aptos"/>
              </a:rPr>
              <a:t>Candidates remain reviewable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96512" y="5843016"/>
            <a:ext cx="3886200" cy="310896"/>
          </a:xfrm>
          <a:prstGeom prst="roundRect">
            <a:avLst/>
          </a:prstGeom>
          <a:solidFill>
            <a:srgbClr val="FDE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51376" y="5870448"/>
            <a:ext cx="3776472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D85D68"/>
                </a:solidFill>
                <a:latin typeface="Aptos"/>
              </a:rPr>
              <a:t>PROTOTYPE — NOT PRODUCTION READY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47104"/>
            <a:ext cx="5029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49E"/>
                </a:solidFill>
                <a:latin typeface="Aptos"/>
              </a:rPr>
              <a:t>MatchSnap India  •  Concept &amp; execution plan  •  Version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91088" y="6510528"/>
            <a:ext cx="5303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A849E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5212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547ED"/>
                </a:solidFill>
                <a:latin typeface="Aptos"/>
              </a:rPr>
              <a:t>INDIA-FIRST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789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7142F"/>
                </a:solidFill>
                <a:latin typeface="Aptos Display"/>
              </a:rPr>
              <a:t>Start as a partner tool, not a nationwide consumer launch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106070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F6A82"/>
                </a:solidFill>
                <a:latin typeface="Aptos"/>
              </a:rPr>
              <a:t>A narrow launch creates a safer path to trust, evidence and eventual integration.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2011680"/>
            <a:ext cx="3685032" cy="1920240"/>
          </a:xfrm>
          <a:prstGeom prst="roundRect">
            <a:avLst/>
          </a:prstGeom>
          <a:solidFill>
            <a:srgbClr val="2D2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28032" y="2496312"/>
            <a:ext cx="2532888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ptos"/>
              </a:rPr>
              <a:t>MATCHSNAP
PILOT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28803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20824"/>
            <a:ext cx="2478024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142F"/>
                </a:solidFill>
                <a:latin typeface="Aptos"/>
              </a:rPr>
              <a:t>Mission Vatsalya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41448"/>
            <a:ext cx="247802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F6A82"/>
                </a:solidFill>
                <a:latin typeface="Aptos"/>
              </a:rPr>
              <a:t>Child-protection framework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4069080"/>
            <a:ext cx="28803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06824"/>
            <a:ext cx="2478024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142F"/>
                </a:solidFill>
                <a:latin typeface="Aptos"/>
              </a:rPr>
              <a:t>DCPU / CWC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27448"/>
            <a:ext cx="247802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F6A82"/>
                </a:solidFill>
                <a:latin typeface="Aptos"/>
              </a:rPr>
              <a:t>District review and safeguarding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86216" y="1783080"/>
            <a:ext cx="28803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87384" y="2020824"/>
            <a:ext cx="2478024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142F"/>
                </a:solidFill>
                <a:latin typeface="Aptos"/>
              </a:rPr>
              <a:t>TrackChild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87384" y="2441448"/>
            <a:ext cx="247802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F6A82"/>
                </a:solidFill>
                <a:latin typeface="Aptos"/>
              </a:rPr>
              <a:t>Existing official record workflow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86216" y="4069080"/>
            <a:ext cx="28803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87384" y="4306824"/>
            <a:ext cx="2478024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142F"/>
                </a:solidFill>
                <a:latin typeface="Aptos"/>
              </a:rPr>
              <a:t>Child Helpline 1098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87384" y="4727448"/>
            <a:ext cx="247802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F6A82"/>
                </a:solidFill>
                <a:latin typeface="Aptos"/>
              </a:rPr>
              <a:t>Crisis and escalation channel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593592" y="2404872"/>
            <a:ext cx="658368" cy="137160"/>
          </a:xfrm>
          <a:prstGeom prst="line">
            <a:avLst/>
          </a:prstGeom>
          <a:ln w="25400">
            <a:solidFill>
              <a:srgbClr val="6547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593592" y="3456432"/>
            <a:ext cx="658368" cy="1225296"/>
          </a:xfrm>
          <a:prstGeom prst="line">
            <a:avLst/>
          </a:prstGeom>
          <a:ln w="25400">
            <a:solidFill>
              <a:srgbClr val="6547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936992" y="2404872"/>
            <a:ext cx="649224" cy="137160"/>
          </a:xfrm>
          <a:prstGeom prst="line">
            <a:avLst/>
          </a:prstGeom>
          <a:ln w="25400">
            <a:solidFill>
              <a:srgbClr val="6547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936992" y="3456432"/>
            <a:ext cx="649224" cy="1225296"/>
          </a:xfrm>
          <a:prstGeom prst="line">
            <a:avLst/>
          </a:prstGeom>
          <a:ln w="25400">
            <a:solidFill>
              <a:srgbClr val="6547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794760" y="4617720"/>
            <a:ext cx="4599432" cy="1024128"/>
          </a:xfrm>
          <a:prstGeom prst="roundRect">
            <a:avLst/>
          </a:prstGeom>
          <a:solidFill>
            <a:srgbClr val="E3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69080" y="4864608"/>
            <a:ext cx="4050791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28B67D"/>
                </a:solidFill>
                <a:latin typeface="Aptos"/>
              </a:rPr>
              <a:t>Recommended first shape
1 population • 1 district • 1 accountable partner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547104"/>
            <a:ext cx="5029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49E"/>
                </a:solidFill>
                <a:latin typeface="Aptos"/>
              </a:rPr>
              <a:t>MatchSnap India  •  Concept &amp; execution plan  •  Version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91088" y="6510528"/>
            <a:ext cx="5303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A849E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5212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547ED"/>
                </a:solidFill>
                <a:latin typeface="Aptos"/>
              </a:rPr>
              <a:t>SAFETY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789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7142F"/>
                </a:solidFill>
                <a:latin typeface="Aptos Display"/>
              </a:rPr>
              <a:t>Recognition proposes; people decide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106070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F6A82"/>
                </a:solidFill>
                <a:latin typeface="Aptos"/>
              </a:rPr>
              <a:t>The service must reduce search effort without turning a sensitive database into an open surveillance tool.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47088"/>
            <a:ext cx="5285232" cy="3803904"/>
          </a:xfrm>
          <a:prstGeom prst="roundRect">
            <a:avLst/>
          </a:prstGeom>
          <a:solidFill>
            <a:srgbClr val="E3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39696"/>
            <a:ext cx="18288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8B67D"/>
                </a:solidFill>
                <a:latin typeface="Aptos"/>
              </a:rPr>
              <a:t>DESIGN FOR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688336"/>
            <a:ext cx="91440" cy="91440"/>
          </a:xfrm>
          <a:prstGeom prst="roundRect">
            <a:avLst/>
          </a:prstGeom>
          <a:solidFill>
            <a:srgbClr val="28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2615184"/>
            <a:ext cx="4370832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7142F"/>
                </a:solidFill>
                <a:latin typeface="Aptos"/>
              </a:rPr>
              <a:t>Authorized, role-based 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218688"/>
            <a:ext cx="91440" cy="91440"/>
          </a:xfrm>
          <a:prstGeom prst="roundRect">
            <a:avLst/>
          </a:prstGeom>
          <a:solidFill>
            <a:srgbClr val="28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3145536"/>
            <a:ext cx="4370832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7142F"/>
                </a:solidFill>
                <a:latin typeface="Aptos"/>
              </a:rPr>
              <a:t>Verified cases and trained reviewers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3749039"/>
            <a:ext cx="91440" cy="91440"/>
          </a:xfrm>
          <a:prstGeom prst="roundRect">
            <a:avLst/>
          </a:prstGeom>
          <a:solidFill>
            <a:srgbClr val="28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3675887"/>
            <a:ext cx="4370832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7142F"/>
                </a:solidFill>
                <a:latin typeface="Aptos"/>
              </a:rPr>
              <a:t>Human review before contact or escalation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4279392"/>
            <a:ext cx="91440" cy="91440"/>
          </a:xfrm>
          <a:prstGeom prst="roundRect">
            <a:avLst/>
          </a:prstGeom>
          <a:solidFill>
            <a:srgbClr val="28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1288" y="4206240"/>
            <a:ext cx="4370832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7142F"/>
                </a:solidFill>
                <a:latin typeface="Aptos"/>
              </a:rPr>
              <a:t>Private images, audit logs and deletion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4809744"/>
            <a:ext cx="91440" cy="91440"/>
          </a:xfrm>
          <a:prstGeom prst="roundRect">
            <a:avLst/>
          </a:prstGeom>
          <a:solidFill>
            <a:srgbClr val="28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61288" y="4736592"/>
            <a:ext cx="4370832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7142F"/>
                </a:solidFill>
                <a:latin typeface="Aptos"/>
              </a:rPr>
              <a:t>Plain-language consent and grievance handling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1847088"/>
            <a:ext cx="5294376" cy="3803904"/>
          </a:xfrm>
          <a:prstGeom prst="roundRect">
            <a:avLst/>
          </a:prstGeom>
          <a:solidFill>
            <a:srgbClr val="FDE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139696"/>
            <a:ext cx="20116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85D68"/>
                </a:solidFill>
                <a:latin typeface="Aptos"/>
              </a:rPr>
              <a:t>NEVER ENABLE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2688336"/>
            <a:ext cx="91440" cy="91440"/>
          </a:xfrm>
          <a:prstGeom prst="roundRect">
            <a:avLst/>
          </a:prstGeom>
          <a:solidFill>
            <a:srgbClr val="D85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39128" y="2615184"/>
            <a:ext cx="4370832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7142F"/>
                </a:solidFill>
                <a:latin typeface="Aptos"/>
              </a:rPr>
              <a:t>Public or unrestricted face search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37960" y="3218688"/>
            <a:ext cx="91440" cy="91440"/>
          </a:xfrm>
          <a:prstGeom prst="roundRect">
            <a:avLst/>
          </a:prstGeom>
          <a:solidFill>
            <a:srgbClr val="D85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39128" y="3145536"/>
            <a:ext cx="4370832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7142F"/>
                </a:solidFill>
                <a:latin typeface="Aptos"/>
              </a:rPr>
              <a:t>A score presented as confirmed identity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37960" y="3749039"/>
            <a:ext cx="91440" cy="91440"/>
          </a:xfrm>
          <a:prstGeom prst="roundRect">
            <a:avLst/>
          </a:prstGeom>
          <a:solidFill>
            <a:srgbClr val="D85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39128" y="3675887"/>
            <a:ext cx="4370832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7142F"/>
                </a:solidFill>
                <a:latin typeface="Aptos"/>
              </a:rPr>
              <a:t>Automatic disclosure of phone or location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4279392"/>
            <a:ext cx="91440" cy="91440"/>
          </a:xfrm>
          <a:prstGeom prst="roundRect">
            <a:avLst/>
          </a:prstGeom>
          <a:solidFill>
            <a:srgbClr val="D85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39128" y="4206240"/>
            <a:ext cx="4370832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7142F"/>
                </a:solidFill>
                <a:latin typeface="Aptos"/>
              </a:rPr>
              <a:t>Direct unknown-adult-to-child connection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37960" y="4809744"/>
            <a:ext cx="91440" cy="91440"/>
          </a:xfrm>
          <a:prstGeom prst="roundRect">
            <a:avLst/>
          </a:prstGeom>
          <a:solidFill>
            <a:srgbClr val="D85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39128" y="4736592"/>
            <a:ext cx="4370832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7142F"/>
                </a:solidFill>
                <a:latin typeface="Aptos"/>
              </a:rPr>
              <a:t>Silent reuse of biometric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547104"/>
            <a:ext cx="5029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49E"/>
                </a:solidFill>
                <a:latin typeface="Aptos"/>
              </a:rPr>
              <a:t>MatchSnap India  •  Concept &amp; execution plan  •  Version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91088" y="6510528"/>
            <a:ext cx="5303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A849E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5212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547ED"/>
                </a:solidFill>
                <a:latin typeface="Aptos"/>
              </a:rPr>
              <a:t>INDIA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789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7142F"/>
                </a:solidFill>
                <a:latin typeface="Aptos Display"/>
              </a:rPr>
              <a:t>Legal, safeguarding and licensing are product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106070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F6A82"/>
                </a:solidFill>
                <a:latin typeface="Aptos"/>
              </a:rPr>
              <a:t>Qualified Indian counsel and the pilot partner must approve the real-data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83664"/>
            <a:ext cx="5294376" cy="1307592"/>
          </a:xfrm>
          <a:prstGeom prst="roundRect">
            <a:avLst/>
          </a:prstGeom>
          <a:solidFill>
            <a:srgbClr val="EE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6968" y="2139696"/>
            <a:ext cx="1170432" cy="329184"/>
          </a:xfrm>
          <a:prstGeom prst="roundRect">
            <a:avLst/>
          </a:prstGeom>
          <a:solidFill>
            <a:srgbClr val="654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203704"/>
            <a:ext cx="1042415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Aptos"/>
              </a:rPr>
              <a:t>DPDP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76856" y="2103120"/>
            <a:ext cx="338328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7142F"/>
                </a:solidFill>
                <a:latin typeface="Aptos"/>
              </a:rPr>
              <a:t>Notice, consent, rights, grievance, safeguards, breach response and current enforcement timeline.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83664"/>
            <a:ext cx="5294376" cy="130759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46520" y="2139696"/>
            <a:ext cx="1170432" cy="329184"/>
          </a:xfrm>
          <a:prstGeom prst="roundRect">
            <a:avLst/>
          </a:prstGeom>
          <a:solidFill>
            <a:srgbClr val="427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2203704"/>
            <a:ext cx="1042415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Aptos"/>
              </a:rPr>
              <a:t>CHILDREN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36408" y="2103120"/>
            <a:ext cx="338328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7142F"/>
                </a:solidFill>
                <a:latin typeface="Aptos"/>
              </a:rPr>
              <a:t>Guardian authority, child-data duties, safeguarding and Mission Vatsalya / JJ workflows.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83864"/>
            <a:ext cx="5294376" cy="1307592"/>
          </a:xfrm>
          <a:prstGeom prst="roundRect">
            <a:avLst/>
          </a:prstGeom>
          <a:solidFill>
            <a:srgbClr val="E3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6968" y="3739896"/>
            <a:ext cx="1170432" cy="329184"/>
          </a:xfrm>
          <a:prstGeom prst="roundRect">
            <a:avLst/>
          </a:prstGeom>
          <a:solidFill>
            <a:srgbClr val="28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3803904"/>
            <a:ext cx="1042415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Aptos"/>
              </a:rPr>
              <a:t>DATA LIFECYCLE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76856" y="3703320"/>
            <a:ext cx="338328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7142F"/>
                </a:solidFill>
                <a:latin typeface="Aptos"/>
              </a:rPr>
              <a:t>Purpose limits, processor contracts, India-region hosting, retention, erasure and backup deletion.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483864"/>
            <a:ext cx="5294376" cy="1307592"/>
          </a:xfrm>
          <a:prstGeom prst="roundRect">
            <a:avLst/>
          </a:prstGeom>
          <a:solidFill>
            <a:srgbClr val="FFF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46520" y="3739896"/>
            <a:ext cx="1170432" cy="329184"/>
          </a:xfrm>
          <a:prstGeom prst="roundRect">
            <a:avLst/>
          </a:prstGeom>
          <a:solidFill>
            <a:srgbClr val="F0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3803904"/>
            <a:ext cx="1042415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Aptos"/>
              </a:rPr>
              <a:t>MODEL LICENCE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3703320"/>
            <a:ext cx="338328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7142F"/>
                </a:solidFill>
                <a:latin typeface="Aptos"/>
              </a:rPr>
              <a:t>Resolve commercial rights for pretrained weights or select an acceptable alternative.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239512"/>
            <a:ext cx="10872216" cy="566928"/>
          </a:xfrm>
          <a:prstGeom prst="roundRect">
            <a:avLst/>
          </a:prstGeom>
          <a:solidFill>
            <a:srgbClr val="2D2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404104"/>
            <a:ext cx="1024128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ptos"/>
              </a:rPr>
              <a:t>No real-person pilot until counsel, the partner and a named safety owner approve the controls.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547104"/>
            <a:ext cx="5029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49E"/>
                </a:solidFill>
                <a:latin typeface="Aptos"/>
              </a:rPr>
              <a:t>MatchSnap India  •  Concept &amp; execution plan  •  Version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91088" y="6510528"/>
            <a:ext cx="5303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A849E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5212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547ED"/>
                </a:solidFill>
                <a:latin typeface="Aptos"/>
              </a:rPr>
              <a:t>PHASE 1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789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7142F"/>
                </a:solidFill>
                <a:latin typeface="Aptos Display"/>
              </a:rPr>
              <a:t>Choose the smallest responsible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106070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F6A82"/>
                </a:solidFill>
                <a:latin typeface="Aptos"/>
              </a:rPr>
              <a:t>Population determines consent, safeguarding, partner type and product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20240"/>
            <a:ext cx="3328416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112" y="2194560"/>
            <a:ext cx="530352" cy="530352"/>
          </a:xfrm>
          <a:prstGeom prst="roundRect">
            <a:avLst/>
          </a:prstGeom>
          <a:solidFill>
            <a:srgbClr val="F0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22576"/>
            <a:ext cx="40233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26080"/>
            <a:ext cx="28346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7142F"/>
                </a:solidFill>
                <a:latin typeface="Aptos"/>
              </a:rPr>
              <a:t>Children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456432"/>
            <a:ext cx="2816352" cy="8412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F6A82"/>
                </a:solidFill>
                <a:latin typeface="Aptos"/>
              </a:rPr>
              <a:t>Highest safeguarding burden; strongest fit with Mission Vatsalya, DCPU, CWC and 1098.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5" y="1920240"/>
            <a:ext cx="3328416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1999" y="2194560"/>
            <a:ext cx="530352" cy="530352"/>
          </a:xfrm>
          <a:prstGeom prst="roundRect">
            <a:avLst/>
          </a:prstGeom>
          <a:solidFill>
            <a:srgbClr val="427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2322576"/>
            <a:ext cx="40233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2926080"/>
            <a:ext cx="28346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7142F"/>
                </a:solidFill>
                <a:latin typeface="Aptos"/>
              </a:rPr>
              <a:t>Adults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3456432"/>
            <a:ext cx="2816352" cy="8412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F6A82"/>
                </a:solidFill>
                <a:latin typeface="Aptos"/>
              </a:rPr>
              <a:t>Simpler first consent model; requires police/NGO verification and vulnerable-adult safeguards.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920240"/>
            <a:ext cx="3328416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47888" y="2194560"/>
            <a:ext cx="530352" cy="530352"/>
          </a:xfrm>
          <a:prstGeom prst="roundRect">
            <a:avLst/>
          </a:prstGeom>
          <a:solidFill>
            <a:srgbClr val="654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2322576"/>
            <a:ext cx="40233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926080"/>
            <a:ext cx="28346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7142F"/>
                </a:solidFill>
                <a:latin typeface="Aptos"/>
              </a:rPr>
              <a:t>Children + adults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3456432"/>
            <a:ext cx="2816352" cy="8412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F6A82"/>
                </a:solidFill>
                <a:latin typeface="Aptos"/>
              </a:rPr>
              <a:t>Broadest mission, but doubles workflow, policy and partner complexity for an initial pilot.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983480"/>
            <a:ext cx="10872216" cy="832104"/>
          </a:xfrm>
          <a:prstGeom prst="roundRect">
            <a:avLst/>
          </a:prstGeom>
          <a:solidFill>
            <a:srgbClr val="EE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230368"/>
            <a:ext cx="1024128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550" b="1">
                <a:solidFill>
                  <a:srgbClr val="6547ED"/>
                </a:solidFill>
                <a:latin typeface="Aptos"/>
              </a:rPr>
              <a:t>Recommendation: </a:t>
            </a:r>
            <a:r>
              <a:rPr sz="1550" b="0">
                <a:solidFill>
                  <a:srgbClr val="17142F"/>
                </a:solidFill>
                <a:latin typeface="Aptos"/>
              </a:rPr>
              <a:t>select one population, one city/district and one accountable institutional partner.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547104"/>
            <a:ext cx="5029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49E"/>
                </a:solidFill>
                <a:latin typeface="Aptos"/>
              </a:rPr>
              <a:t>MatchSnap India  •  Concept &amp; execution plan  •  Version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91088" y="6510528"/>
            <a:ext cx="5303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A849E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5212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547ED"/>
                </a:solidFill>
                <a:latin typeface="Aptos"/>
              </a:rPr>
              <a:t>EXECUTION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789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7142F"/>
                </a:solidFill>
                <a:latin typeface="Aptos Display"/>
              </a:rPr>
              <a:t>Nine phases, with evidence gates between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106070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F6A82"/>
                </a:solidFill>
                <a:latin typeface="Aptos"/>
              </a:rPr>
              <a:t>Do not scale engineering or outreach faster than safety, partner and evidence readiness.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37360"/>
            <a:ext cx="3374136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956816"/>
            <a:ext cx="293522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547ED"/>
                </a:solidFill>
                <a:latin typeface="Aptos"/>
              </a:rPr>
              <a:t>FOUNDATION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77824" y="2295144"/>
            <a:ext cx="2935224" cy="0"/>
          </a:xfrm>
          <a:prstGeom prst="line">
            <a:avLst/>
          </a:prstGeom>
          <a:ln w="31750">
            <a:solidFill>
              <a:srgbClr val="6547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77824" y="2514600"/>
            <a:ext cx="347472" cy="347472"/>
          </a:xfrm>
          <a:prstGeom prst="roundRect">
            <a:avLst/>
          </a:prstGeom>
          <a:solidFill>
            <a:srgbClr val="654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8971" y="2601468"/>
            <a:ext cx="26517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505456"/>
            <a:ext cx="8229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142F"/>
                </a:solidFill>
                <a:latin typeface="Aptos"/>
              </a:rPr>
              <a:t>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85415" y="2505456"/>
            <a:ext cx="1554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6F6A82"/>
                </a:solidFill>
                <a:latin typeface="Aptos"/>
              </a:rPr>
              <a:t>India charter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" y="3072384"/>
            <a:ext cx="347472" cy="347472"/>
          </a:xfrm>
          <a:prstGeom prst="roundRect">
            <a:avLst/>
          </a:prstGeom>
          <a:solidFill>
            <a:srgbClr val="654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1" y="3159252"/>
            <a:ext cx="26517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063240"/>
            <a:ext cx="8229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142F"/>
                </a:solidFill>
                <a:latin typeface="Aptos"/>
              </a:rPr>
              <a:t>Validate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85415" y="3063240"/>
            <a:ext cx="1554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6F6A82"/>
                </a:solidFill>
                <a:latin typeface="Aptos"/>
              </a:rPr>
              <a:t>Interviews + partner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" y="3630168"/>
            <a:ext cx="347472" cy="347472"/>
          </a:xfrm>
          <a:prstGeom prst="roundRect">
            <a:avLst/>
          </a:prstGeom>
          <a:solidFill>
            <a:srgbClr val="654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1" y="3717035"/>
            <a:ext cx="26517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621024"/>
            <a:ext cx="8229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142F"/>
                </a:solidFill>
                <a:latin typeface="Aptos"/>
              </a:rPr>
              <a:t>Approve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85415" y="3621024"/>
            <a:ext cx="1554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6F6A82"/>
                </a:solidFill>
                <a:latin typeface="Aptos"/>
              </a:rPr>
              <a:t>Legal + safeguarding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34255" y="1737360"/>
            <a:ext cx="3374136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1956816"/>
            <a:ext cx="293522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4275E8"/>
                </a:solidFill>
                <a:latin typeface="Aptos"/>
              </a:rPr>
              <a:t>BUILD &amp; PROVE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53712" y="2295144"/>
            <a:ext cx="2935224" cy="0"/>
          </a:xfrm>
          <a:prstGeom prst="line">
            <a:avLst/>
          </a:prstGeom>
          <a:ln w="31750">
            <a:solidFill>
              <a:srgbClr val="427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553712" y="2514600"/>
            <a:ext cx="347472" cy="347472"/>
          </a:xfrm>
          <a:prstGeom prst="roundRect">
            <a:avLst/>
          </a:prstGeom>
          <a:solidFill>
            <a:srgbClr val="427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4859" y="2601468"/>
            <a:ext cx="26517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2505456"/>
            <a:ext cx="8229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142F"/>
                </a:solidFill>
                <a:latin typeface="Aptos"/>
              </a:rPr>
              <a:t>Harden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61303" y="2505456"/>
            <a:ext cx="1554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6F6A82"/>
                </a:solidFill>
                <a:latin typeface="Aptos"/>
              </a:rPr>
              <a:t>Secure pilot MVP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53712" y="3072384"/>
            <a:ext cx="347472" cy="347472"/>
          </a:xfrm>
          <a:prstGeom prst="roundRect">
            <a:avLst/>
          </a:prstGeom>
          <a:solidFill>
            <a:srgbClr val="427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4859" y="3159252"/>
            <a:ext cx="26517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7488" y="3063240"/>
            <a:ext cx="8229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142F"/>
                </a:solidFill>
                <a:latin typeface="Aptos"/>
              </a:rPr>
              <a:t>Measure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61303" y="3063240"/>
            <a:ext cx="1554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6F6A82"/>
                </a:solidFill>
                <a:latin typeface="Aptos"/>
              </a:rPr>
              <a:t>Accuracy + security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53712" y="3630168"/>
            <a:ext cx="347472" cy="347472"/>
          </a:xfrm>
          <a:prstGeom prst="roundRect">
            <a:avLst/>
          </a:prstGeom>
          <a:solidFill>
            <a:srgbClr val="427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4859" y="3717035"/>
            <a:ext cx="26517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3621024"/>
            <a:ext cx="8229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142F"/>
                </a:solidFill>
                <a:latin typeface="Aptos"/>
              </a:rPr>
              <a:t>Pilot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61303" y="3621024"/>
            <a:ext cx="1554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6F6A82"/>
                </a:solidFill>
                <a:latin typeface="Aptos"/>
              </a:rPr>
              <a:t>Closed real workflow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10144" y="1737360"/>
            <a:ext cx="3374136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1956816"/>
            <a:ext cx="293522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8B67D"/>
                </a:solidFill>
                <a:latin typeface="Aptos"/>
              </a:rPr>
              <a:t>FUND &amp; SCALE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229600" y="2295144"/>
            <a:ext cx="2935224" cy="0"/>
          </a:xfrm>
          <a:prstGeom prst="line">
            <a:avLst/>
          </a:prstGeom>
          <a:ln w="31750">
            <a:solidFill>
              <a:srgbClr val="28B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229600" y="2514600"/>
            <a:ext cx="347472" cy="347472"/>
          </a:xfrm>
          <a:prstGeom prst="roundRect">
            <a:avLst/>
          </a:prstGeom>
          <a:solidFill>
            <a:srgbClr val="28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0748" y="2601468"/>
            <a:ext cx="26517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23376" y="2505456"/>
            <a:ext cx="8229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142F"/>
                </a:solidFill>
                <a:latin typeface="Aptos"/>
              </a:rPr>
              <a:t>Model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37192" y="2505456"/>
            <a:ext cx="1554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6F6A82"/>
                </a:solidFill>
                <a:latin typeface="Aptos"/>
              </a:rPr>
              <a:t>Operations + budget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0" y="3072384"/>
            <a:ext cx="347472" cy="347472"/>
          </a:xfrm>
          <a:prstGeom prst="roundRect">
            <a:avLst/>
          </a:prstGeom>
          <a:solidFill>
            <a:srgbClr val="28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70748" y="3159252"/>
            <a:ext cx="26517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23376" y="3063240"/>
            <a:ext cx="8229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142F"/>
                </a:solidFill>
                <a:latin typeface="Aptos"/>
              </a:rPr>
              <a:t>Package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37192" y="3063240"/>
            <a:ext cx="1554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6F6A82"/>
                </a:solidFill>
                <a:latin typeface="Aptos"/>
              </a:rPr>
              <a:t>Deck + data room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9600" y="3630168"/>
            <a:ext cx="347472" cy="347472"/>
          </a:xfrm>
          <a:prstGeom prst="roundRect">
            <a:avLst/>
          </a:prstGeom>
          <a:solidFill>
            <a:srgbClr val="28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70748" y="3717035"/>
            <a:ext cx="26517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23376" y="3621024"/>
            <a:ext cx="8229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142F"/>
                </a:solidFill>
                <a:latin typeface="Aptos"/>
              </a:rPr>
              <a:t>Fund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37192" y="3621024"/>
            <a:ext cx="1554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6F6A82"/>
                </a:solidFill>
                <a:latin typeface="Aptos"/>
              </a:rPr>
              <a:t>Targeted outreach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8368" y="4709160"/>
            <a:ext cx="3374136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" y="4901184"/>
            <a:ext cx="7772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547ED"/>
                </a:solidFill>
                <a:latin typeface="Aptos"/>
              </a:rPr>
              <a:t>GATE 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00200" y="4818888"/>
            <a:ext cx="2176272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7142F"/>
                </a:solidFill>
                <a:latin typeface="Aptos"/>
              </a:rPr>
              <a:t>Partner confirms the workflow is useful and safe to explore.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334255" y="4709160"/>
            <a:ext cx="3374136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35423" y="4901184"/>
            <a:ext cx="7772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275E8"/>
                </a:solidFill>
                <a:latin typeface="Aptos"/>
              </a:rPr>
              <a:t>GATE 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76088" y="4818888"/>
            <a:ext cx="2176272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7142F"/>
                </a:solidFill>
                <a:latin typeface="Aptos"/>
              </a:rPr>
              <a:t>Counsel and partner approve real-data pilot controls.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10144" y="4709160"/>
            <a:ext cx="3374136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11312" y="4901184"/>
            <a:ext cx="7772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8B67D"/>
                </a:solidFill>
                <a:latin typeface="Aptos"/>
              </a:rPr>
              <a:t>GATE 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51976" y="4818888"/>
            <a:ext cx="2176272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7142F"/>
                </a:solidFill>
                <a:latin typeface="Aptos"/>
              </a:rPr>
              <a:t>Pilot evidence supports a costed funding request.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547104"/>
            <a:ext cx="5029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49E"/>
                </a:solidFill>
                <a:latin typeface="Aptos"/>
              </a:rPr>
              <a:t>MatchSnap India  •  Concept &amp; execution plan  •  Version 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91088" y="6510528"/>
            <a:ext cx="5303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A849E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5212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547ED"/>
                </a:solidFill>
                <a:latin typeface="Aptos"/>
              </a:rPr>
              <a:t>SECURE PILOT 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789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7142F"/>
                </a:solidFill>
                <a:latin typeface="Aptos Display"/>
              </a:rPr>
              <a:t>What must be added before real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106070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F6A82"/>
                </a:solidFill>
                <a:latin typeface="Aptos"/>
              </a:rPr>
              <a:t>The next engineering milestone is controlled access and case handling—not more matching demos.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83664"/>
            <a:ext cx="5294376" cy="1572768"/>
          </a:xfrm>
          <a:prstGeom prst="roundRect">
            <a:avLst/>
          </a:prstGeom>
          <a:solidFill>
            <a:srgbClr val="EE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130552"/>
            <a:ext cx="24231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547ED"/>
                </a:solidFill>
                <a:latin typeface="Aptos"/>
              </a:rPr>
              <a:t>IDENTITY &amp; ACCESS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" y="2624328"/>
            <a:ext cx="82296" cy="82296"/>
          </a:xfrm>
          <a:prstGeom prst="roundRect">
            <a:avLst/>
          </a:prstGeom>
          <a:solidFill>
            <a:srgbClr val="654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2587752"/>
            <a:ext cx="2148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142F"/>
                </a:solidFill>
                <a:latin typeface="Aptos"/>
              </a:rPr>
              <a:t>OTP login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2624328"/>
            <a:ext cx="82296" cy="82296"/>
          </a:xfrm>
          <a:prstGeom prst="roundRect">
            <a:avLst/>
          </a:prstGeom>
          <a:solidFill>
            <a:srgbClr val="654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57016" y="2587752"/>
            <a:ext cx="2148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142F"/>
                </a:solidFill>
                <a:latin typeface="Aptos"/>
              </a:rPr>
              <a:t>Partner membership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" y="3044952"/>
            <a:ext cx="82296" cy="82296"/>
          </a:xfrm>
          <a:prstGeom prst="roundRect">
            <a:avLst/>
          </a:prstGeom>
          <a:solidFill>
            <a:srgbClr val="654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3008376"/>
            <a:ext cx="2148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142F"/>
                </a:solidFill>
                <a:latin typeface="Aptos"/>
              </a:rPr>
              <a:t>Reviewer/admin roles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2424" y="3044952"/>
            <a:ext cx="82296" cy="82296"/>
          </a:xfrm>
          <a:prstGeom prst="roundRect">
            <a:avLst/>
          </a:prstGeom>
          <a:solidFill>
            <a:srgbClr val="654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57016" y="3008376"/>
            <a:ext cx="2148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142F"/>
                </a:solidFill>
                <a:latin typeface="Aptos"/>
              </a:rPr>
              <a:t>Rate limits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883664"/>
            <a:ext cx="5294376" cy="1572768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8" y="2130552"/>
            <a:ext cx="24231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4275E8"/>
                </a:solidFill>
                <a:latin typeface="Aptos"/>
              </a:rPr>
              <a:t>CASE GOVERNANCE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64808" y="2624328"/>
            <a:ext cx="82296" cy="82296"/>
          </a:xfrm>
          <a:prstGeom prst="roundRect">
            <a:avLst/>
          </a:prstGeom>
          <a:solidFill>
            <a:srgbClr val="427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2587752"/>
            <a:ext cx="2148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142F"/>
                </a:solidFill>
                <a:latin typeface="Aptos"/>
              </a:rPr>
              <a:t>Case verification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51976" y="2624328"/>
            <a:ext cx="82296" cy="82296"/>
          </a:xfrm>
          <a:prstGeom prst="roundRect">
            <a:avLst/>
          </a:prstGeom>
          <a:solidFill>
            <a:srgbClr val="427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16568" y="2587752"/>
            <a:ext cx="2148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142F"/>
                </a:solidFill>
                <a:latin typeface="Aptos"/>
              </a:rPr>
              <a:t>Assignment + closure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64808" y="3044952"/>
            <a:ext cx="82296" cy="82296"/>
          </a:xfrm>
          <a:prstGeom prst="roundRect">
            <a:avLst/>
          </a:prstGeom>
          <a:solidFill>
            <a:srgbClr val="427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3008376"/>
            <a:ext cx="2148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142F"/>
                </a:solidFill>
                <a:latin typeface="Aptos"/>
              </a:rPr>
              <a:t>Audit trail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51976" y="3044952"/>
            <a:ext cx="82296" cy="82296"/>
          </a:xfrm>
          <a:prstGeom prst="roundRect">
            <a:avLst/>
          </a:prstGeom>
          <a:solidFill>
            <a:srgbClr val="427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16568" y="3008376"/>
            <a:ext cx="2148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142F"/>
                </a:solidFill>
                <a:latin typeface="Aptos"/>
              </a:rPr>
              <a:t>Duplicate handling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758183"/>
            <a:ext cx="5294376" cy="1572768"/>
          </a:xfrm>
          <a:prstGeom prst="roundRect">
            <a:avLst/>
          </a:prstGeom>
          <a:solidFill>
            <a:srgbClr val="E3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05071"/>
            <a:ext cx="24231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8B67D"/>
                </a:solidFill>
                <a:latin typeface="Aptos"/>
              </a:rPr>
              <a:t>PRIVACY &amp; SAFETY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6" y="4498847"/>
            <a:ext cx="82296" cy="82296"/>
          </a:xfrm>
          <a:prstGeom prst="roundRect">
            <a:avLst/>
          </a:prstGeom>
          <a:solidFill>
            <a:srgbClr val="28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9848" y="4462271"/>
            <a:ext cx="2148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142F"/>
                </a:solidFill>
                <a:latin typeface="Aptos"/>
              </a:rPr>
              <a:t>Consent records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92424" y="4498847"/>
            <a:ext cx="82296" cy="82296"/>
          </a:xfrm>
          <a:prstGeom prst="roundRect">
            <a:avLst/>
          </a:prstGeom>
          <a:solidFill>
            <a:srgbClr val="28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57016" y="4462271"/>
            <a:ext cx="2148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142F"/>
                </a:solidFill>
                <a:latin typeface="Aptos"/>
              </a:rPr>
              <a:t>Retention + deletion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5256" y="4919471"/>
            <a:ext cx="82296" cy="82296"/>
          </a:xfrm>
          <a:prstGeom prst="roundRect">
            <a:avLst/>
          </a:prstGeom>
          <a:solidFill>
            <a:srgbClr val="28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9848" y="4882895"/>
            <a:ext cx="2148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142F"/>
                </a:solidFill>
                <a:latin typeface="Aptos"/>
              </a:rPr>
              <a:t>Private images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92424" y="4919471"/>
            <a:ext cx="82296" cy="82296"/>
          </a:xfrm>
          <a:prstGeom prst="roundRect">
            <a:avLst/>
          </a:prstGeom>
          <a:solidFill>
            <a:srgbClr val="28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57016" y="4882895"/>
            <a:ext cx="2148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142F"/>
                </a:solidFill>
                <a:latin typeface="Aptos"/>
              </a:rPr>
              <a:t>Protected handoff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3758183"/>
            <a:ext cx="5294376" cy="1572768"/>
          </a:xfrm>
          <a:prstGeom prst="roundRect">
            <a:avLst/>
          </a:prstGeom>
          <a:solidFill>
            <a:srgbClr val="FFF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64808" y="4005071"/>
            <a:ext cx="24231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0A34A"/>
                </a:solidFill>
                <a:latin typeface="Aptos"/>
              </a:rPr>
              <a:t>INDIA EXPERIENCE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64808" y="4498847"/>
            <a:ext cx="82296" cy="82296"/>
          </a:xfrm>
          <a:prstGeom prst="roundRect">
            <a:avLst/>
          </a:prstGeom>
          <a:solidFill>
            <a:srgbClr val="F0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9400" y="4462271"/>
            <a:ext cx="2148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142F"/>
                </a:solidFill>
                <a:latin typeface="Aptos"/>
              </a:rPr>
              <a:t>Low-bandwidth upload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51976" y="4498847"/>
            <a:ext cx="82296" cy="82296"/>
          </a:xfrm>
          <a:prstGeom prst="roundRect">
            <a:avLst/>
          </a:prstGeom>
          <a:solidFill>
            <a:srgbClr val="F0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16568" y="4462271"/>
            <a:ext cx="2148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142F"/>
                </a:solidFill>
                <a:latin typeface="Aptos"/>
              </a:rPr>
              <a:t>Retry + draft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64808" y="4919471"/>
            <a:ext cx="82296" cy="82296"/>
          </a:xfrm>
          <a:prstGeom prst="roundRect">
            <a:avLst/>
          </a:prstGeom>
          <a:solidFill>
            <a:srgbClr val="F0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29400" y="4882895"/>
            <a:ext cx="2148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142F"/>
                </a:solidFill>
                <a:latin typeface="Aptos"/>
              </a:rPr>
              <a:t>English + Hindi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51976" y="4919471"/>
            <a:ext cx="82296" cy="82296"/>
          </a:xfrm>
          <a:prstGeom prst="roundRect">
            <a:avLst/>
          </a:prstGeom>
          <a:solidFill>
            <a:srgbClr val="F0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16568" y="4882895"/>
            <a:ext cx="2148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7142F"/>
                </a:solidFill>
                <a:latin typeface="Aptos"/>
              </a:rPr>
              <a:t>Launch-state language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547104"/>
            <a:ext cx="5029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49E"/>
                </a:solidFill>
                <a:latin typeface="Aptos"/>
              </a:rPr>
              <a:t>MatchSnap India  •  Concept &amp; execution plan  •  Version 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91088" y="6510528"/>
            <a:ext cx="5303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A849E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5212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547ED"/>
                </a:solidFill>
                <a:latin typeface="Aptos"/>
              </a:rPr>
              <a:t>RECOGNITION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789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7142F"/>
                </a:solidFill>
                <a:latin typeface="Aptos Display"/>
              </a:rPr>
              <a:t>Measure failure modes, not just impressive matches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106070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F6A82"/>
                </a:solidFill>
                <a:latin typeface="Aptos"/>
              </a:rPr>
              <a:t>Thresholds must be calibrated on consented, representative Indian pilot conditions.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" y="1627632"/>
            <a:ext cx="1847088" cy="3968496"/>
          </a:xfrm>
          <a:prstGeom prst="roundRect">
            <a:avLst/>
          </a:prstGeom>
          <a:solidFill>
            <a:srgbClr val="171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tchsnap-potential-match.png"/>
          <p:cNvPicPr>
            <a:picLocks noChangeAspect="1"/>
          </p:cNvPicPr>
          <p:nvPr/>
        </p:nvPicPr>
        <p:blipFill>
          <a:blip r:embed="rId2"/>
          <a:srcRect l="27" r="27"/>
          <a:stretch>
            <a:fillRect/>
          </a:stretch>
        </p:blipFill>
        <p:spPr>
          <a:xfrm>
            <a:off x="804672" y="1700784"/>
            <a:ext cx="1719072" cy="382219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04088" y="5715000"/>
            <a:ext cx="1965960" cy="310896"/>
          </a:xfrm>
          <a:prstGeom prst="roundRect">
            <a:avLst/>
          </a:prstGeom>
          <a:solidFill>
            <a:srgbClr val="FFF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5742432"/>
            <a:ext cx="1856231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0A34A"/>
                </a:solidFill>
                <a:latin typeface="Aptos"/>
              </a:rPr>
              <a:t>HUMAN REVIEW REQUIRED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27248" y="1828800"/>
            <a:ext cx="3867912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46704" y="1984248"/>
            <a:ext cx="1426464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6547ED"/>
                </a:solidFill>
                <a:latin typeface="Aptos"/>
              </a:rPr>
              <a:t>TAR @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956816"/>
            <a:ext cx="1874519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6F6A82"/>
                </a:solidFill>
                <a:latin typeface="Aptos"/>
              </a:rPr>
              <a:t>Correct matches at a stated false-accept 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828800"/>
            <a:ext cx="3867912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34656" y="1984248"/>
            <a:ext cx="1426464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6547ED"/>
                </a:solidFill>
                <a:latin typeface="Aptos"/>
              </a:rPr>
              <a:t>Rank recall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79992" y="1956816"/>
            <a:ext cx="1874519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6F6A82"/>
                </a:solidFill>
                <a:latin typeface="Aptos"/>
              </a:rPr>
              <a:t>Whether the right person appears in the review list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27248" y="3063240"/>
            <a:ext cx="3867912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6704" y="3218688"/>
            <a:ext cx="1426464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6547ED"/>
                </a:solidFill>
                <a:latin typeface="Aptos"/>
              </a:rPr>
              <a:t>False candidates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191256"/>
            <a:ext cx="1874519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6F6A82"/>
                </a:solidFill>
                <a:latin typeface="Aptos"/>
              </a:rPr>
              <a:t>Reviewer burden and harm potential per case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3063240"/>
            <a:ext cx="3867912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34656" y="3218688"/>
            <a:ext cx="1426464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6547ED"/>
                </a:solidFill>
                <a:latin typeface="Aptos"/>
              </a:rPr>
              <a:t>Group performance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9992" y="3191256"/>
            <a:ext cx="1874519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6F6A82"/>
                </a:solidFill>
                <a:latin typeface="Aptos"/>
              </a:rPr>
              <a:t>Age, skin tone, gender and image-quality differences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27248" y="4297680"/>
            <a:ext cx="3867912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46704" y="4453128"/>
            <a:ext cx="1426464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6547ED"/>
                </a:solidFill>
                <a:latin typeface="Aptos"/>
              </a:rPr>
              <a:t>Quality rejection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4425696"/>
            <a:ext cx="1874519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6F6A82"/>
                </a:solidFill>
                <a:latin typeface="Aptos"/>
              </a:rPr>
              <a:t>No face, multiple faces, blur, pose and occlusion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4297680"/>
            <a:ext cx="3867912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34656" y="4453128"/>
            <a:ext cx="1426464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6547ED"/>
                </a:solidFill>
                <a:latin typeface="Aptos"/>
              </a:rPr>
              <a:t>Latency + cost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9992" y="4425696"/>
            <a:ext cx="1874519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6F6A82"/>
                </a:solidFill>
                <a:latin typeface="Aptos"/>
              </a:rPr>
              <a:t>End-to-end processing time and infrastructure cost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7248" y="5541264"/>
            <a:ext cx="8055864" cy="457200"/>
          </a:xfrm>
          <a:prstGeom prst="roundRect">
            <a:avLst/>
          </a:prstGeom>
          <a:solidFill>
            <a:srgbClr val="FDE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29000" y="5669280"/>
            <a:ext cx="7452360" cy="192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D85D68"/>
                </a:solidFill>
                <a:latin typeface="Aptos"/>
              </a:rPr>
              <a:t>Stop if any group shows unacceptable error, reviewer burden or safety risk.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547104"/>
            <a:ext cx="5029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49E"/>
                </a:solidFill>
                <a:latin typeface="Aptos"/>
              </a:rPr>
              <a:t>MatchSnap India  •  Concept &amp; execution plan  •  Version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91088" y="6510528"/>
            <a:ext cx="5303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A849E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5212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547ED"/>
                </a:solidFill>
                <a:latin typeface="Aptos"/>
              </a:rPr>
              <a:t>CLOSED 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789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7142F"/>
                </a:solidFill>
                <a:latin typeface="Aptos Display"/>
              </a:rPr>
              <a:t>Prove usefulness inside one supervised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106070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F6A82"/>
                </a:solidFill>
                <a:latin typeface="Aptos"/>
              </a:rPr>
              <a:t>The pilot is an operational study with a kill switch—not a public launch.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57400"/>
            <a:ext cx="2432304" cy="2468880"/>
          </a:xfrm>
          <a:prstGeom prst="roundRect">
            <a:avLst/>
          </a:prstGeom>
          <a:solidFill>
            <a:srgbClr val="EE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331720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547ED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743200"/>
            <a:ext cx="1920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7142F"/>
                </a:solidFill>
                <a:latin typeface="Aptos"/>
              </a:rPr>
              <a:t>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246120"/>
            <a:ext cx="192024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F6A82"/>
                </a:solidFill>
                <a:latin typeface="Aptos"/>
              </a:rPr>
              <a:t>One location
One partner
Named reviewers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90672" y="3300984"/>
            <a:ext cx="320039" cy="0"/>
          </a:xfrm>
          <a:prstGeom prst="line">
            <a:avLst/>
          </a:prstGeom>
          <a:ln w="254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10711" y="2057400"/>
            <a:ext cx="2432304" cy="2468880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48455" y="2331720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275E8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8455" y="2743200"/>
            <a:ext cx="1920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7142F"/>
                </a:solidFill>
                <a:latin typeface="Aptos"/>
              </a:rPr>
              <a:t>OPERATE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8455" y="3246120"/>
            <a:ext cx="192024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F6A82"/>
                </a:solidFill>
                <a:latin typeface="Aptos"/>
              </a:rPr>
              <a:t>Verified cases
Controlled candidates
Partner handoff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43016" y="3300984"/>
            <a:ext cx="320039" cy="0"/>
          </a:xfrm>
          <a:prstGeom prst="line">
            <a:avLst/>
          </a:prstGeom>
          <a:ln w="254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163055" y="2057400"/>
            <a:ext cx="2432304" cy="2468880"/>
          </a:xfrm>
          <a:prstGeom prst="roundRect">
            <a:avLst/>
          </a:prstGeom>
          <a:solidFill>
            <a:srgbClr val="E3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799" y="2331720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8B67D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799" y="2743200"/>
            <a:ext cx="1920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7142F"/>
                </a:solidFill>
                <a:latin typeface="Aptos"/>
              </a:rPr>
              <a:t>LEARN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799" y="3246120"/>
            <a:ext cx="192024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F6A82"/>
                </a:solidFill>
                <a:latin typeface="Aptos"/>
              </a:rPr>
              <a:t>Weekly safety review
Support log
Participant feedback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595359" y="3300984"/>
            <a:ext cx="320041" cy="0"/>
          </a:xfrm>
          <a:prstGeom prst="line">
            <a:avLst/>
          </a:prstGeom>
          <a:ln w="254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915400" y="2057400"/>
            <a:ext cx="2432304" cy="2468880"/>
          </a:xfrm>
          <a:prstGeom prst="roundRect">
            <a:avLst/>
          </a:prstGeom>
          <a:solidFill>
            <a:srgbClr val="FFF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53144" y="2331720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0A34A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3144" y="2743200"/>
            <a:ext cx="1920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7142F"/>
                </a:solidFill>
                <a:latin typeface="Aptos"/>
              </a:rPr>
              <a:t>DECIDE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53144" y="3246120"/>
            <a:ext cx="192024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F6A82"/>
                </a:solidFill>
                <a:latin typeface="Aptos"/>
              </a:rPr>
              <a:t>Continue
Revise
Or stop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946904"/>
            <a:ext cx="10872216" cy="868680"/>
          </a:xfrm>
          <a:prstGeom prst="roundRect">
            <a:avLst/>
          </a:prstGeom>
          <a:solidFill>
            <a:srgbClr val="2D2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5230368"/>
            <a:ext cx="10149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ptos"/>
              </a:rPr>
              <a:t>Publish impact claims only when the partner verifies the outcome and approves communication.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547104"/>
            <a:ext cx="5029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49E"/>
                </a:solidFill>
                <a:latin typeface="Aptos"/>
              </a:rPr>
              <a:t>MatchSnap India  •  Concept &amp; execution plan  •  Version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91088" y="6510528"/>
            <a:ext cx="5303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A849E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5212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547ED"/>
                </a:solidFill>
                <a:latin typeface="Aptos"/>
              </a:rPr>
              <a:t>PILOT SCORECARD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789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7142F"/>
                </a:solidFill>
                <a:latin typeface="Aptos Display"/>
              </a:rPr>
              <a:t>Success combines product, safety and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106070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F6A82"/>
                </a:solidFill>
                <a:latin typeface="Aptos"/>
              </a:rPr>
              <a:t>A single recognition score cannot demonstrate funder readiness.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01952"/>
            <a:ext cx="3328416" cy="3273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901952"/>
            <a:ext cx="3328416" cy="621792"/>
          </a:xfrm>
          <a:prstGeom prst="roundRect">
            <a:avLst/>
          </a:prstGeom>
          <a:solidFill>
            <a:srgbClr val="654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112264"/>
            <a:ext cx="283464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ptos"/>
              </a:rPr>
              <a:t>PRODUCT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843784"/>
            <a:ext cx="91440" cy="91440"/>
          </a:xfrm>
          <a:prstGeom prst="roundRect">
            <a:avLst/>
          </a:prstGeom>
          <a:solidFill>
            <a:srgbClr val="654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770632"/>
            <a:ext cx="2578608" cy="5212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7142F"/>
                </a:solidFill>
                <a:latin typeface="Aptos"/>
              </a:rPr>
              <a:t>Verified cases completed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364991"/>
            <a:ext cx="91440" cy="91440"/>
          </a:xfrm>
          <a:prstGeom prst="roundRect">
            <a:avLst/>
          </a:prstGeom>
          <a:solidFill>
            <a:srgbClr val="654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291839"/>
            <a:ext cx="2578608" cy="5212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7142F"/>
                </a:solidFill>
                <a:latin typeface="Aptos"/>
              </a:rPr>
              <a:t>Valid-photo upload 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886200"/>
            <a:ext cx="91440" cy="91440"/>
          </a:xfrm>
          <a:prstGeom prst="roundRect">
            <a:avLst/>
          </a:prstGeom>
          <a:solidFill>
            <a:srgbClr val="654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813048"/>
            <a:ext cx="2578608" cy="5212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7142F"/>
                </a:solidFill>
                <a:latin typeface="Aptos"/>
              </a:rPr>
              <a:t>Processing + review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407408"/>
            <a:ext cx="91440" cy="91440"/>
          </a:xfrm>
          <a:prstGeom prst="roundRect">
            <a:avLst/>
          </a:prstGeom>
          <a:solidFill>
            <a:srgbClr val="654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4334256"/>
            <a:ext cx="2578608" cy="5212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7142F"/>
                </a:solidFill>
                <a:latin typeface="Aptos"/>
              </a:rPr>
              <a:t>Candidate-list usefulness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4255" y="1901952"/>
            <a:ext cx="3328416" cy="3273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34255" y="1901952"/>
            <a:ext cx="3328416" cy="621792"/>
          </a:xfrm>
          <a:prstGeom prst="roundRect">
            <a:avLst/>
          </a:prstGeom>
          <a:solidFill>
            <a:srgbClr val="D85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1999" y="2112264"/>
            <a:ext cx="283464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ptos"/>
              </a:rPr>
              <a:t>SAFETY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90288" y="2843784"/>
            <a:ext cx="91440" cy="91440"/>
          </a:xfrm>
          <a:prstGeom prst="roundRect">
            <a:avLst/>
          </a:prstGeom>
          <a:solidFill>
            <a:srgbClr val="D85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91455" y="2770632"/>
            <a:ext cx="2578608" cy="5212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7142F"/>
                </a:solidFill>
                <a:latin typeface="Aptos"/>
              </a:rPr>
              <a:t>False candidates per case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90288" y="3364991"/>
            <a:ext cx="91440" cy="91440"/>
          </a:xfrm>
          <a:prstGeom prst="roundRect">
            <a:avLst/>
          </a:prstGeom>
          <a:solidFill>
            <a:srgbClr val="D85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91455" y="3291839"/>
            <a:ext cx="2578608" cy="5212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7142F"/>
                </a:solidFill>
                <a:latin typeface="Aptos"/>
              </a:rPr>
              <a:t>User understanding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90288" y="3886200"/>
            <a:ext cx="91440" cy="91440"/>
          </a:xfrm>
          <a:prstGeom prst="roundRect">
            <a:avLst/>
          </a:prstGeom>
          <a:solidFill>
            <a:srgbClr val="D85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91455" y="3813048"/>
            <a:ext cx="2578608" cy="5212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7142F"/>
                </a:solidFill>
                <a:latin typeface="Aptos"/>
              </a:rPr>
              <a:t>Deletion + grievance SLA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90288" y="4407408"/>
            <a:ext cx="91440" cy="91440"/>
          </a:xfrm>
          <a:prstGeom prst="roundRect">
            <a:avLst/>
          </a:prstGeom>
          <a:solidFill>
            <a:srgbClr val="D85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91455" y="4334256"/>
            <a:ext cx="2578608" cy="5212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7142F"/>
                </a:solidFill>
                <a:latin typeface="Aptos"/>
              </a:rPr>
              <a:t>Privacy/safeguarding incidents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10144" y="1901952"/>
            <a:ext cx="3328416" cy="3273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10144" y="1901952"/>
            <a:ext cx="3328416" cy="621792"/>
          </a:xfrm>
          <a:prstGeom prst="roundRect">
            <a:avLst/>
          </a:prstGeom>
          <a:solidFill>
            <a:srgbClr val="28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7888" y="2112264"/>
            <a:ext cx="283464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ptos"/>
              </a:rPr>
              <a:t>OPERATIONS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66175" y="2843784"/>
            <a:ext cx="91440" cy="91440"/>
          </a:xfrm>
          <a:prstGeom prst="roundRect">
            <a:avLst/>
          </a:prstGeom>
          <a:solidFill>
            <a:srgbClr val="28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67344" y="2770632"/>
            <a:ext cx="2578608" cy="5212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7142F"/>
                </a:solidFill>
                <a:latin typeface="Aptos"/>
              </a:rPr>
              <a:t>Reviewer time per case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66175" y="3364991"/>
            <a:ext cx="91440" cy="91440"/>
          </a:xfrm>
          <a:prstGeom prst="roundRect">
            <a:avLst/>
          </a:prstGeom>
          <a:solidFill>
            <a:srgbClr val="28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67344" y="3291839"/>
            <a:ext cx="2578608" cy="5212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7142F"/>
                </a:solidFill>
                <a:latin typeface="Aptos"/>
              </a:rPr>
              <a:t>Notification + handoff rate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66175" y="3886200"/>
            <a:ext cx="91440" cy="91440"/>
          </a:xfrm>
          <a:prstGeom prst="roundRect">
            <a:avLst/>
          </a:prstGeom>
          <a:solidFill>
            <a:srgbClr val="28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67344" y="3813048"/>
            <a:ext cx="2578608" cy="5212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7142F"/>
                </a:solidFill>
                <a:latin typeface="Aptos"/>
              </a:rPr>
              <a:t>Partner satisfaction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66175" y="4407408"/>
            <a:ext cx="91440" cy="91440"/>
          </a:xfrm>
          <a:prstGeom prst="roundRect">
            <a:avLst/>
          </a:prstGeom>
          <a:solidFill>
            <a:srgbClr val="28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67344" y="4334256"/>
            <a:ext cx="2578608" cy="5212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7142F"/>
                </a:solidFill>
                <a:latin typeface="Aptos"/>
              </a:rPr>
              <a:t>Cost per processed case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776472" y="5522976"/>
            <a:ext cx="4645152" cy="310896"/>
          </a:xfrm>
          <a:prstGeom prst="roundRect">
            <a:avLst/>
          </a:prstGeom>
          <a:solidFill>
            <a:srgbClr val="EE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31335" y="5550408"/>
            <a:ext cx="4535424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6547ED"/>
                </a:solidFill>
                <a:latin typeface="Aptos"/>
              </a:rPr>
              <a:t>PRE-AGREE THRESHOLDS AND STOP CONDITIONS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547104"/>
            <a:ext cx="5029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49E"/>
                </a:solidFill>
                <a:latin typeface="Aptos"/>
              </a:rPr>
              <a:t>MatchSnap India  •  Concept &amp; execution plan  •  Version 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91088" y="6510528"/>
            <a:ext cx="5303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A849E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5212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547ED"/>
                </a:solidFill>
                <a:latin typeface="Aptos"/>
              </a:rPr>
              <a:t>OPERATING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789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7142F"/>
                </a:solidFill>
                <a:latin typeface="Aptos Display"/>
              </a:rPr>
              <a:t>Funders will ask who is accountable after the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106070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F6A82"/>
                </a:solidFill>
                <a:latin typeface="Aptos"/>
              </a:rPr>
              <a:t>The organization, partner and technology roles must be explicit before money is requested.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28800"/>
            <a:ext cx="6583680" cy="3895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2176272"/>
            <a:ext cx="1444752" cy="320040"/>
          </a:xfrm>
          <a:prstGeom prst="roundRect">
            <a:avLst/>
          </a:prstGeom>
          <a:solidFill>
            <a:srgbClr val="654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5" y="2240279"/>
            <a:ext cx="12801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Aptos"/>
              </a:rPr>
              <a:t>MATCHSNAP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0904" y="2148840"/>
            <a:ext cx="4096512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7142F"/>
                </a:solidFill>
                <a:latin typeface="Aptos"/>
              </a:rPr>
              <a:t>Product, security, cloud, support and incident response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227832"/>
            <a:ext cx="1444752" cy="320040"/>
          </a:xfrm>
          <a:prstGeom prst="roundRect">
            <a:avLst/>
          </a:prstGeom>
          <a:solidFill>
            <a:srgbClr val="427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5" y="3291839"/>
            <a:ext cx="12801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Aptos"/>
              </a:rPr>
              <a:t>PILOT PARTNER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60904" y="3200400"/>
            <a:ext cx="4096512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7142F"/>
                </a:solidFill>
                <a:latin typeface="Aptos"/>
              </a:rPr>
              <a:t>Case verification, trained review, handoff and safeguarding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4279392"/>
            <a:ext cx="1444752" cy="320040"/>
          </a:xfrm>
          <a:prstGeom prst="roundRect">
            <a:avLst/>
          </a:prstGeom>
          <a:solidFill>
            <a:srgbClr val="28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5" y="4343400"/>
            <a:ext cx="12801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Aptos"/>
              </a:rPr>
              <a:t>ADVISORS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60904" y="4251959"/>
            <a:ext cx="4096512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7142F"/>
                </a:solidFill>
                <a:latin typeface="Aptos"/>
              </a:rPr>
              <a:t>Indian privacy, child protection, ethics and recognition quality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60120" y="5074920"/>
            <a:ext cx="5925312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60120" y="5230368"/>
            <a:ext cx="171907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547ED"/>
                </a:solidFill>
                <a:latin typeface="Aptos"/>
              </a:rPr>
              <a:t>Entity options to evaluate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5202936"/>
            <a:ext cx="4069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F6A82"/>
                </a:solidFill>
                <a:latin typeface="Aptos"/>
              </a:rPr>
              <a:t>Social enterprise  •  Section 8  •  NGO/government partner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98664" y="1828800"/>
            <a:ext cx="3931920" cy="3895344"/>
          </a:xfrm>
          <a:prstGeom prst="roundRect">
            <a:avLst/>
          </a:prstGeom>
          <a:solidFill>
            <a:srgbClr val="2D2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9560" y="2185416"/>
            <a:ext cx="331012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CFC5F3"/>
                </a:solidFill>
                <a:latin typeface="Aptos"/>
              </a:rPr>
              <a:t>12-MONTH USE OF FUNDS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2670048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9A5CF4"/>
                </a:solidFill>
                <a:latin typeface="Aptos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2651760"/>
            <a:ext cx="270662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FFFFF"/>
                </a:solidFill>
                <a:latin typeface="Aptos"/>
              </a:rPr>
              <a:t>Legal, privacy and safeguarding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3200400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9A5CF4"/>
                </a:solidFill>
                <a:latin typeface="Aptos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7" y="3182112"/>
            <a:ext cx="270662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FFFFF"/>
                </a:solidFill>
                <a:latin typeface="Aptos"/>
              </a:rPr>
              <a:t>Secure product + cloud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3730752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9A5CF4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3712464"/>
            <a:ext cx="270662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FFFFF"/>
                </a:solidFill>
                <a:latin typeface="Aptos"/>
              </a:rPr>
              <a:t>Evaluation and security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4261104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9A5CF4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7" y="4242816"/>
            <a:ext cx="270662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FFFFF"/>
                </a:solidFill>
                <a:latin typeface="Aptos"/>
              </a:rPr>
              <a:t>Partner pilot operations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4791456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9A5CF4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7" y="4773168"/>
            <a:ext cx="270662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FFFFF"/>
                </a:solidFill>
                <a:latin typeface="Aptos"/>
              </a:rPr>
              <a:t>Core team and support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547104"/>
            <a:ext cx="5029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49E"/>
                </a:solidFill>
                <a:latin typeface="Aptos"/>
              </a:rPr>
              <a:t>MatchSnap India  •  Concept &amp; execution plan  •  Version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91088" y="6510528"/>
            <a:ext cx="5303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A849E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5212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547ED"/>
                </a:solidFill>
                <a:latin typeface="Aptos"/>
              </a:rPr>
              <a:t>FUNDER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789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7142F"/>
                </a:solidFill>
                <a:latin typeface="Aptos Display"/>
              </a:rPr>
              <a:t>Evidence first, then targeted outreach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106070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F6A82"/>
                </a:solidFill>
                <a:latin typeface="Aptos"/>
              </a:rPr>
              <a:t>The same story is packaged differently for government, CSR, grants, incubators and investors.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37943"/>
            <a:ext cx="4956048" cy="3867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39696"/>
            <a:ext cx="1554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547ED"/>
                </a:solidFill>
                <a:latin typeface="Aptos"/>
              </a:rPr>
              <a:t>THE PACKAGE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679192"/>
            <a:ext cx="91440" cy="91440"/>
          </a:xfrm>
          <a:prstGeom prst="roundRect">
            <a:avLst/>
          </a:prstGeom>
          <a:solidFill>
            <a:srgbClr val="654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2606040"/>
            <a:ext cx="4050792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7142F"/>
                </a:solidFill>
                <a:latin typeface="Aptos"/>
              </a:rPr>
              <a:t>Two-minute working demo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154680"/>
            <a:ext cx="91440" cy="91440"/>
          </a:xfrm>
          <a:prstGeom prst="roundRect">
            <a:avLst/>
          </a:prstGeom>
          <a:solidFill>
            <a:srgbClr val="654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3081528"/>
            <a:ext cx="4050792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7142F"/>
                </a:solidFill>
                <a:latin typeface="Aptos"/>
              </a:rPr>
              <a:t>Partner letter and pilot workflow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3630168"/>
            <a:ext cx="91440" cy="91440"/>
          </a:xfrm>
          <a:prstGeom prst="roundRect">
            <a:avLst/>
          </a:prstGeom>
          <a:solidFill>
            <a:srgbClr val="654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3557016"/>
            <a:ext cx="4050792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7142F"/>
                </a:solidFill>
                <a:latin typeface="Aptos"/>
              </a:rPr>
              <a:t>Measured recognition and safety results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4105656"/>
            <a:ext cx="91440" cy="91440"/>
          </a:xfrm>
          <a:prstGeom prst="roundRect">
            <a:avLst/>
          </a:prstGeom>
          <a:solidFill>
            <a:srgbClr val="654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1288" y="4032504"/>
            <a:ext cx="4050792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7142F"/>
                </a:solidFill>
                <a:latin typeface="Aptos"/>
              </a:rPr>
              <a:t>Privacy, safeguarding and licence path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4581144"/>
            <a:ext cx="91440" cy="91440"/>
          </a:xfrm>
          <a:prstGeom prst="roundRect">
            <a:avLst/>
          </a:prstGeom>
          <a:solidFill>
            <a:srgbClr val="654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61288" y="4507992"/>
            <a:ext cx="4050792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7142F"/>
                </a:solidFill>
                <a:latin typeface="Aptos"/>
              </a:rPr>
              <a:t>12-month budget and exact funding ask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5056632"/>
            <a:ext cx="91440" cy="91440"/>
          </a:xfrm>
          <a:prstGeom prst="roundRect">
            <a:avLst/>
          </a:prstGeom>
          <a:solidFill>
            <a:srgbClr val="654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61288" y="4983480"/>
            <a:ext cx="4050792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7142F"/>
                </a:solidFill>
                <a:latin typeface="Aptos"/>
              </a:rPr>
              <a:t>Roadmap, team plan and risk register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61888" y="1837943"/>
            <a:ext cx="5568696" cy="3867912"/>
          </a:xfrm>
          <a:prstGeom prst="roundRect">
            <a:avLst/>
          </a:prstGeom>
          <a:solidFill>
            <a:srgbClr val="EE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72784" y="2139696"/>
            <a:ext cx="24231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547ED"/>
                </a:solidFill>
                <a:latin typeface="Aptos"/>
              </a:rPr>
              <a:t>INDIA OUTREACH CHANNELS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2784" y="2569464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7142F"/>
                </a:solidFill>
                <a:latin typeface="Aptos"/>
              </a:rPr>
              <a:t>DPIIT / Startup India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5592" y="2560320"/>
            <a:ext cx="283464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F6A82"/>
                </a:solidFill>
                <a:latin typeface="Aptos"/>
              </a:rPr>
              <a:t>Recognition, incubators and suitable schemes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2784" y="3182112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7142F"/>
                </a:solidFill>
                <a:latin typeface="Aptos"/>
              </a:rPr>
              <a:t>IndiaAI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5592" y="3172968"/>
            <a:ext cx="283464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F6A82"/>
                </a:solidFill>
                <a:latin typeface="Aptos"/>
              </a:rPr>
              <a:t>Current startup financing and acceleration opportunities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2784" y="3794760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7142F"/>
                </a:solidFill>
                <a:latin typeface="Aptos"/>
              </a:rPr>
              <a:t>CSR + foundations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5592" y="3785616"/>
            <a:ext cx="283464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F6A82"/>
                </a:solidFill>
                <a:latin typeface="Aptos"/>
              </a:rPr>
              <a:t>Child protection, public safety and social impact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4" y="4407408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7142F"/>
                </a:solidFill>
                <a:latin typeface="Aptos"/>
              </a:rPr>
              <a:t>Government innovation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5592" y="4398264"/>
            <a:ext cx="283464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F6A82"/>
                </a:solidFill>
                <a:latin typeface="Aptos"/>
              </a:rPr>
              <a:t>Relevant central and state programs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2784" y="5020056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7142F"/>
                </a:solidFill>
                <a:latin typeface="Aptos"/>
              </a:rPr>
              <a:t>Impact capital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5592" y="5010912"/>
            <a:ext cx="283464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F6A82"/>
                </a:solidFill>
                <a:latin typeface="Aptos"/>
              </a:rPr>
              <a:t>Mission-aligned angels, funds and accelerators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547104"/>
            <a:ext cx="5029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49E"/>
                </a:solidFill>
                <a:latin typeface="Aptos"/>
              </a:rPr>
              <a:t>MatchSnap India  •  Concept &amp; execution plan  •  Version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91088" y="6510528"/>
            <a:ext cx="5303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A849E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5212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547ED"/>
                </a:solidFill>
                <a:latin typeface="Aptos"/>
              </a:rPr>
              <a:t>NEXT 30 DAYS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789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7142F"/>
                </a:solidFill>
                <a:latin typeface="Aptos Display"/>
              </a:rPr>
              <a:t>Turn the concept into an India project charter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106070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F6A82"/>
                </a:solidFill>
                <a:latin typeface="Aptos"/>
              </a:rPr>
              <a:t>These actions should happen before more real-data collection or nationwide planning.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47672"/>
            <a:ext cx="2432304" cy="2898648"/>
          </a:xfrm>
          <a:prstGeom prst="roundRect">
            <a:avLst/>
          </a:prstGeom>
          <a:solidFill>
            <a:srgbClr val="EE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240280"/>
            <a:ext cx="10515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547ED"/>
                </a:solidFill>
                <a:latin typeface="Aptos"/>
              </a:rPr>
              <a:t>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679192"/>
            <a:ext cx="193852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7142F"/>
                </a:solidFill>
                <a:latin typeface="Aptos"/>
              </a:rPr>
              <a:t>Decide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310128"/>
            <a:ext cx="1920240" cy="9326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F6A82"/>
                </a:solidFill>
                <a:latin typeface="Aptos"/>
              </a:rPr>
              <a:t>Population
State + district
Partner type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0711" y="1947672"/>
            <a:ext cx="2432304" cy="2898648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240280"/>
            <a:ext cx="10515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275E8"/>
                </a:solidFill>
                <a:latin typeface="Aptos"/>
              </a:rPr>
              <a:t>WEEK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2679192"/>
            <a:ext cx="193852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7142F"/>
                </a:solidFill>
                <a:latin typeface="Aptos"/>
              </a:rPr>
              <a:t>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3310128"/>
            <a:ext cx="1920240" cy="9326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F6A82"/>
                </a:solidFill>
                <a:latin typeface="Aptos"/>
              </a:rPr>
              <a:t>Interview guide
4–6 stakeholder calls
Workflow map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947672"/>
            <a:ext cx="2432304" cy="2898648"/>
          </a:xfrm>
          <a:prstGeom prst="roundRect">
            <a:avLst/>
          </a:prstGeom>
          <a:solidFill>
            <a:srgbClr val="E3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2240280"/>
            <a:ext cx="10515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8B67D"/>
                </a:solidFill>
                <a:latin typeface="Aptos"/>
              </a:rPr>
              <a:t>WEEK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679192"/>
            <a:ext cx="193852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7142F"/>
                </a:solidFill>
                <a:latin typeface="Aptos"/>
              </a:rPr>
              <a:t>Partner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3310128"/>
            <a:ext cx="1920240" cy="9326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F6A82"/>
                </a:solidFill>
                <a:latin typeface="Aptos"/>
              </a:rPr>
              <a:t>Pilot owner
Written interest
Safeguarding 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1947672"/>
            <a:ext cx="2432304" cy="2898648"/>
          </a:xfrm>
          <a:prstGeom prst="roundRect">
            <a:avLst/>
          </a:prstGeom>
          <a:solidFill>
            <a:srgbClr val="FFF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34856" y="2240280"/>
            <a:ext cx="10515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0A34A"/>
                </a:solidFill>
                <a:latin typeface="Aptos"/>
              </a:rPr>
              <a:t>WEEK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4856" y="2679192"/>
            <a:ext cx="193852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7142F"/>
                </a:solidFill>
                <a:latin typeface="Aptos"/>
              </a:rPr>
              <a:t>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4856" y="3310128"/>
            <a:ext cx="1920240" cy="9326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F6A82"/>
                </a:solidFill>
                <a:latin typeface="Aptos"/>
              </a:rPr>
              <a:t>Legal brief
MVP requirements
Pilot budget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212080"/>
            <a:ext cx="10872216" cy="585216"/>
          </a:xfrm>
          <a:prstGeom prst="roundRect">
            <a:avLst/>
          </a:prstGeom>
          <a:solidFill>
            <a:srgbClr val="2D2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385816"/>
            <a:ext cx="1024128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ptos"/>
              </a:rPr>
              <a:t>First decision: missing children, missing adults, or both?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547104"/>
            <a:ext cx="5029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49E"/>
                </a:solidFill>
                <a:latin typeface="Aptos"/>
              </a:rPr>
              <a:t>MatchSnap India  •  Concept &amp; execution plan  •  Version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91088" y="6510528"/>
            <a:ext cx="5303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A849E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0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30352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FC5F3"/>
                </a:solidFill>
                <a:latin typeface="Aptos"/>
              </a:rPr>
              <a:t>OFFICIAL STARTING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50976"/>
            <a:ext cx="768096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FFFFFF"/>
                </a:solidFill>
                <a:latin typeface="Aptos Display"/>
              </a:rPr>
              <a:t>India sources used for Version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491947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Aptos"/>
              </a:rPr>
              <a:t>Digital Personal Data Protection Act, 2023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03703"/>
            <a:ext cx="491947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BEB4E1"/>
                </a:solidFill>
                <a:latin typeface="Aptos"/>
              </a:rPr>
              <a:t>https://www.indiacode.nic.in/handle/123456789/22037?view_type=browse</a:t>
            </a:r>
          </a:p>
        </p:txBody>
      </p:sp>
      <p:sp>
        <p:nvSpPr>
          <p:cNvPr id="6" name="Rectangle 5">
            <a:hlinkClick r:id="rId2"/>
          </p:cNvPr>
          <p:cNvSpPr/>
          <p:nvPr/>
        </p:nvSpPr>
        <p:spPr>
          <a:xfrm>
            <a:off x="685800" y="2185415"/>
            <a:ext cx="4919472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874519"/>
            <a:ext cx="491947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Aptos"/>
              </a:rPr>
              <a:t>Digital Personal Data Protection Rules,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203703"/>
            <a:ext cx="491947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BEB4E1"/>
                </a:solidFill>
                <a:latin typeface="Aptos"/>
              </a:rPr>
              <a:t>https://www.meity.gov.in/documents/act-and-policies/digital-personal-data-protection-rules-2025-gDOxUjMtQWa?hl=en-US</a:t>
            </a:r>
          </a:p>
        </p:txBody>
      </p:sp>
      <p:sp>
        <p:nvSpPr>
          <p:cNvPr id="9" name="Rectangle 8">
            <a:hlinkClick r:id="rId3"/>
          </p:cNvPr>
          <p:cNvSpPr/>
          <p:nvPr/>
        </p:nvSpPr>
        <p:spPr>
          <a:xfrm>
            <a:off x="6309360" y="2185415"/>
            <a:ext cx="4919472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843784"/>
            <a:ext cx="491947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Aptos"/>
              </a:rPr>
              <a:t>Mission Vatsalya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172968"/>
            <a:ext cx="491947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BEB4E1"/>
                </a:solidFill>
                <a:latin typeface="Aptos"/>
              </a:rPr>
              <a:t>https://www.wcd.gov.in/child/mission_vatsalya</a:t>
            </a:r>
          </a:p>
        </p:txBody>
      </p:sp>
      <p:sp>
        <p:nvSpPr>
          <p:cNvPr id="12" name="Rectangle 11">
            <a:hlinkClick r:id="rId4"/>
          </p:cNvPr>
          <p:cNvSpPr/>
          <p:nvPr/>
        </p:nvSpPr>
        <p:spPr>
          <a:xfrm>
            <a:off x="685800" y="3154679"/>
            <a:ext cx="4919472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843784"/>
            <a:ext cx="491947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Aptos"/>
              </a:rPr>
              <a:t>Child Helpline 1098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172968"/>
            <a:ext cx="491947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BEB4E1"/>
                </a:solidFill>
                <a:latin typeface="Aptos"/>
              </a:rPr>
              <a:t>https://www.wcd.gov.in/offerings/mission-vatsalya-child-helpline-1098</a:t>
            </a:r>
          </a:p>
        </p:txBody>
      </p:sp>
      <p:sp>
        <p:nvSpPr>
          <p:cNvPr id="15" name="Rectangle 14">
            <a:hlinkClick r:id="rId5"/>
          </p:cNvPr>
          <p:cNvSpPr/>
          <p:nvPr/>
        </p:nvSpPr>
        <p:spPr>
          <a:xfrm>
            <a:off x="6309360" y="3154679"/>
            <a:ext cx="4919472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813048"/>
            <a:ext cx="491947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Aptos"/>
              </a:rPr>
              <a:t>TrackChild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42232"/>
            <a:ext cx="491947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BEB4E1"/>
                </a:solidFill>
                <a:latin typeface="Aptos"/>
              </a:rPr>
              <a:t>https://trackthemissingchild.gov.in/trackchild/</a:t>
            </a:r>
          </a:p>
        </p:txBody>
      </p:sp>
      <p:sp>
        <p:nvSpPr>
          <p:cNvPr id="18" name="Rectangle 17">
            <a:hlinkClick r:id="rId6"/>
          </p:cNvPr>
          <p:cNvSpPr/>
          <p:nvPr/>
        </p:nvSpPr>
        <p:spPr>
          <a:xfrm>
            <a:off x="685800" y="4123944"/>
            <a:ext cx="4919472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3813048"/>
            <a:ext cx="491947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Aptos"/>
              </a:rPr>
              <a:t>Startup India Seed Fund Scheme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142232"/>
            <a:ext cx="491947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BEB4E1"/>
                </a:solidFill>
                <a:latin typeface="Aptos"/>
              </a:rPr>
              <a:t>https://seedfund.startupindia.gov.in/</a:t>
            </a:r>
          </a:p>
        </p:txBody>
      </p:sp>
      <p:sp>
        <p:nvSpPr>
          <p:cNvPr id="21" name="Rectangle 20">
            <a:hlinkClick r:id="rId7"/>
          </p:cNvPr>
          <p:cNvSpPr/>
          <p:nvPr/>
        </p:nvSpPr>
        <p:spPr>
          <a:xfrm>
            <a:off x="6309360" y="4123944"/>
            <a:ext cx="4919472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782312"/>
            <a:ext cx="491947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Aptos"/>
              </a:rPr>
              <a:t>DPIIT startup recognition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111496"/>
            <a:ext cx="491947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BEB4E1"/>
                </a:solidFill>
                <a:latin typeface="Aptos"/>
              </a:rPr>
              <a:t>https://www.startupindia.gov.in/content/sih/en/startupgov/startup_recognition_page.html</a:t>
            </a:r>
          </a:p>
        </p:txBody>
      </p:sp>
      <p:sp>
        <p:nvSpPr>
          <p:cNvPr id="24" name="Rectangle 23">
            <a:hlinkClick r:id="rId8"/>
          </p:cNvPr>
          <p:cNvSpPr/>
          <p:nvPr/>
        </p:nvSpPr>
        <p:spPr>
          <a:xfrm>
            <a:off x="685800" y="5093208"/>
            <a:ext cx="4919472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4782312"/>
            <a:ext cx="491947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Aptos"/>
              </a:rPr>
              <a:t>IndiaAI startup financing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5111496"/>
            <a:ext cx="491947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BEB4E1"/>
                </a:solidFill>
                <a:latin typeface="Aptos"/>
              </a:rPr>
              <a:t>https://indiaai.gov.in/hub/indiaai-startup-financing</a:t>
            </a:r>
          </a:p>
        </p:txBody>
      </p:sp>
      <p:sp>
        <p:nvSpPr>
          <p:cNvPr id="27" name="Rectangle 26">
            <a:hlinkClick r:id="rId9"/>
          </p:cNvPr>
          <p:cNvSpPr/>
          <p:nvPr/>
        </p:nvSpPr>
        <p:spPr>
          <a:xfrm>
            <a:off x="6309360" y="5093208"/>
            <a:ext cx="4919472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85800" y="5861304"/>
            <a:ext cx="10817352" cy="329184"/>
          </a:xfrm>
          <a:prstGeom prst="roundRect">
            <a:avLst/>
          </a:prstGeom>
          <a:solidFill>
            <a:srgbClr val="4635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5943600"/>
            <a:ext cx="102595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DED8F5"/>
                </a:solidFill>
                <a:latin typeface="Aptos"/>
              </a:rPr>
              <a:t>Confirm current law, scheme eligibility and program deadlines before acting.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547104"/>
            <a:ext cx="5029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D7CEF9"/>
                </a:solidFill>
                <a:latin typeface="Aptos"/>
              </a:rPr>
              <a:t>MatchSnap India  •  Concept &amp; execution plan  •  Version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91088" y="6510528"/>
            <a:ext cx="5303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D7CEF9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MatchSnap India Concept and Execution Plan — Version 1</dc:title>
  <dc:subject>India-first product concept, safety model, pilot roadmap and funder readiness</dc:subject>
  <dc:creator>MatchSnap</dc:creator>
  <cp:keywords>MatchSnap, India, missing persons, face recognition, pilot, fundraising</cp:keywords>
  <dc:description>Planning document. Similarity candidates require human review.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